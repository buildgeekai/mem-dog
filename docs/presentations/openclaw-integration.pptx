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Calibri"/>
              </a:defRPr>
            </a:pPr>
            <a:r>
              <a:t>OpenClaw + Mem-Dog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2926080"/>
            <a:ext cx="3047695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2918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38BDF8"/>
                </a:solidFill>
                <a:latin typeface="Calibri"/>
              </a:defRPr>
            </a:pPr>
            <a:r>
              <a:t>Turning 25+ Messaging Apps into Your AI Knowledge 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029200"/>
            <a:ext cx="8534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EC0"/>
                </a:solidFill>
                <a:latin typeface="Calibri"/>
              </a:defRPr>
            </a:pPr>
            <a:r>
              <a:t>WhatsApp  ·  Signal  ·  Telegram  ·  Slack  ·  Discord  ·  Matrix  ·  MS Teams  ·  25+ more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What is DigiMe?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0AEC0"/>
                </a:solidFill>
                <a:latin typeface="Calibri"/>
              </a:defRPr>
            </a:pPr>
            <a:r>
              <a:t>An AI assistant built on the OpenClaw runtime that lives inside your messaging apps. Every message is captured, enriched by 42 AI agents, and stored in a temporal knowledge graph — so you can ask questions across all your conversations from any channel.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108960"/>
            <a:ext cx="3200400" cy="2743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33832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  <a:latin typeface="Calibri"/>
              </a:defRPr>
            </a:pPr>
            <a:r>
              <a:t>OpenClaw Runtime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4023360"/>
            <a:ext cx="2468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EC0"/>
                </a:solidFill>
                <a:latin typeface="Calibri"/>
              </a:defRPr>
            </a:pPr>
            <a:r>
              <a:t>Open-source multi-channel agent framework.</a:t>
            </a:r>
            <a:br/>
            <a:r>
              <a:t>Handles channel connections, WebSocket</a:t>
            </a:r>
            <a:br/>
            <a:r>
              <a:t>persistence, and Gemini LLM orchestration.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3108960"/>
            <a:ext cx="3200400" cy="2743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33832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D399"/>
                </a:solidFill>
                <a:latin typeface="Calibri"/>
              </a:defRPr>
            </a:pPr>
            <a:r>
              <a:t>Mem-Dog 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4023360"/>
            <a:ext cx="2468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EC0"/>
                </a:solidFill>
                <a:latin typeface="Calibri"/>
              </a:defRPr>
            </a:pPr>
            <a:r>
              <a:t>42 AI agents classify and enrich every</a:t>
            </a:r>
            <a:br/>
            <a:r>
              <a:t>message. Dual-layer knowledge graph.</a:t>
            </a:r>
            <a:br/>
            <a:r>
              <a:t>5 search modes with RAG chat.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108960"/>
            <a:ext cx="3200400" cy="2743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33832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BBF24"/>
                </a:solidFill>
                <a:latin typeface="Calibri"/>
              </a:defRPr>
            </a:pPr>
            <a:r>
              <a:t>4 Bridge Skills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4023360"/>
            <a:ext cx="2468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EC0"/>
                </a:solidFill>
                <a:latin typeface="Calibri"/>
              </a:defRPr>
            </a:pPr>
            <a:r>
              <a:t>Bridge (record all), Ingest (store),</a:t>
            </a:r>
            <a:br/>
            <a:r>
              <a:t>Query (RAG chat), Semantic Search</a:t>
            </a:r>
            <a:br/>
            <a:r>
              <a:t>(vector similarity).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0907" y="2103120"/>
            <a:ext cx="15544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8067" y="228600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8BDF8"/>
                </a:solidFill>
                <a:latin typeface="Calibri"/>
              </a:defRPr>
            </a:pPr>
            <a:r>
              <a:t>25+ Channels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8067" y="3017520"/>
            <a:ext cx="1280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EC0"/>
                </a:solidFill>
                <a:latin typeface="Calibri"/>
              </a:defRPr>
            </a:pPr>
            <a:r>
              <a:t>WhatsApp, Signal,</a:t>
            </a:r>
            <a:br/>
            <a:r>
              <a:t>Slack, Telegram...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33675" y="274320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8BDF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43987" y="2103120"/>
            <a:ext cx="15544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81147" y="228600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18CF8"/>
                </a:solidFill>
                <a:latin typeface="Calibri"/>
              </a:defRPr>
            </a:pPr>
            <a:r>
              <a:t>OpenClaw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1147" y="3017520"/>
            <a:ext cx="1280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EC0"/>
                </a:solidFill>
                <a:latin typeface="Calibri"/>
              </a:defRPr>
            </a:pPr>
            <a:r>
              <a:t>Channel adapters</a:t>
            </a:r>
            <a:br/>
            <a:r>
              <a:t>Gemini LLM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16755" y="274320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8BDF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27067" y="2103120"/>
            <a:ext cx="15544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4227" y="228600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BBF24"/>
                </a:solidFill>
                <a:latin typeface="Calibri"/>
              </a:defRPr>
            </a:pPr>
            <a:r>
              <a:t>4 Skills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4227" y="3017520"/>
            <a:ext cx="1280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EC0"/>
                </a:solidFill>
                <a:latin typeface="Calibri"/>
              </a:defRPr>
            </a:pPr>
            <a:r>
              <a:t>Bridge, Ingest,</a:t>
            </a:r>
            <a:br/>
            <a:r>
              <a:t>Query, 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99835" y="274320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8BDF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0147" y="2103120"/>
            <a:ext cx="15544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7307" y="228600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4D399"/>
                </a:solidFill>
                <a:latin typeface="Calibri"/>
              </a:defRPr>
            </a:pPr>
            <a:r>
              <a:t>Webhook</a:t>
            </a:r>
            <a:br/>
            <a:r>
              <a:t>Gateway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7307" y="3017520"/>
            <a:ext cx="1280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EC0"/>
                </a:solidFill>
                <a:latin typeface="Calibri"/>
              </a:defRPr>
            </a:pPr>
            <a:r>
              <a:t>Normalize + resolve</a:t>
            </a:r>
            <a:br/>
            <a:r>
              <a:t>user identity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82915" y="274320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8BDF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93227" y="2103120"/>
            <a:ext cx="15544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0387" y="228600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8BDF8"/>
                </a:solidFill>
                <a:latin typeface="Calibri"/>
              </a:defRPr>
            </a:pPr>
            <a:r>
              <a:t>Mem-Dog API</a:t>
            </a:r>
            <a:br/>
            <a:r>
              <a:t>+ Pipeline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0387" y="3017520"/>
            <a:ext cx="1280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EC0"/>
                </a:solidFill>
                <a:latin typeface="Calibri"/>
              </a:defRPr>
            </a:pPr>
            <a:r>
              <a:t>Store, classify,</a:t>
            </a:r>
            <a:br/>
            <a:r>
              <a:t>enrich (42 agents)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65995" y="274320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8BDF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76307" y="2103120"/>
            <a:ext cx="15544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13467" y="228600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4D399"/>
                </a:solidFill>
                <a:latin typeface="Calibri"/>
              </a:defRPr>
            </a:pPr>
            <a:r>
              <a:t>Knowledge</a:t>
            </a:r>
            <a:br/>
            <a:r>
              <a:t>Graph + RAG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13467" y="3017520"/>
            <a:ext cx="1280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EC0"/>
                </a:solidFill>
                <a:latin typeface="Calibri"/>
              </a:defRPr>
            </a:pPr>
            <a:r>
              <a:t>Search, cite,</a:t>
            </a:r>
            <a:br/>
            <a:r>
              <a:t>respond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75488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4D399"/>
                </a:solidFill>
                <a:latin typeface="Calibri"/>
              </a:defRPr>
            </a:pPr>
            <a:r>
              <a:t>Every message flows end-to-end: captured, classified, enriched, embedded, graphed, and made searchable — automatically.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Skill 1: mem-dog-bridge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8BDF8"/>
                </a:solidFill>
                <a:latin typeface="Calibri"/>
              </a:defRPr>
            </a:pPr>
            <a:r>
              <a:t>PASSIVE  —  fires on every message, always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EC0"/>
                </a:solidFill>
                <a:latin typeface="Calibri"/>
              </a:defRPr>
            </a:pPr>
            <a:r>
              <a:t>Every incoming message is automatically forwarded to the mem-dog webhook pipeline. Non-negotiable.</a:t>
            </a:r>
            <a:br/>
            <a:br/>
            <a:r>
              <a:t>The pipeline runs 6-layer classification, routes to one of 42 specialized agents, generates a viewpoint + embedding, extracts entities, and dual-writes to the knowledge graph.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645920"/>
            <a:ext cx="502920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182880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Calibri"/>
              </a:defRPr>
            </a:pPr>
            <a:r>
              <a:t>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37744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1.  User sends message on any 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69748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2.  OpenClaw → DigiMe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301752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4D399"/>
                </a:solidFill>
                <a:latin typeface="Calibri"/>
              </a:defRPr>
            </a:pPr>
            <a:r>
              <a:t>3.  Bridge skill fires automatically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333756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4.  POST /webhooks/openclaw → Gateway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65760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5.  Gateway normalizes → UniversalEnvelope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397764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6.  API stores + publishes to NATS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429768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4D399"/>
                </a:solidFill>
                <a:latin typeface="Calibri"/>
              </a:defRPr>
            </a:pPr>
            <a:r>
              <a:t>7.  Pipeline: classify → agent → enrich → graph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Skills 2-4: Ingest, Query, Search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BBF24"/>
                </a:solidFill>
                <a:latin typeface="Calibri"/>
              </a:defRPr>
            </a:pPr>
            <a:r>
              <a:t>ACTIVE  —  triggered by user intent (questions, commands, search requests)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377440"/>
            <a:ext cx="10362895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514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  <a:latin typeface="Calibri"/>
              </a:defRPr>
            </a:pPr>
            <a:r>
              <a:t>mem-dog-ingest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8803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Store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60604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EC0"/>
                </a:solidFill>
                <a:latin typeface="Calibri"/>
              </a:defRPr>
            </a:pPr>
            <a:r>
              <a:t>User says "remember my flight is at 3pm"</a:t>
            </a:r>
            <a:br/>
            <a:r>
              <a:t>or uses /save command.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26974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4D399"/>
                </a:solidFill>
                <a:latin typeface="Courier New"/>
              </a:defRPr>
            </a:pPr>
            <a:r>
              <a:t>POST /api/v1/data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840480"/>
            <a:ext cx="10362895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3977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Calibri"/>
              </a:defRPr>
            </a:pPr>
            <a:r>
              <a:t>mem-dog-query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3434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RAG Chat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406908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EC0"/>
                </a:solidFill>
                <a:latin typeface="Calibri"/>
              </a:defRPr>
            </a:pPr>
            <a:r>
              <a:t>User asks a question. DigiMe retrieves</a:t>
            </a:r>
            <a:br/>
            <a:r>
              <a:t>context and answers with [1][2] citations.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41605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4D399"/>
                </a:solidFill>
                <a:latin typeface="Courier New"/>
              </a:defRPr>
            </a:pPr>
            <a:r>
              <a:t>POST /api/v1/ai/query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5303520"/>
            <a:ext cx="10362895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54406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18CF8"/>
                </a:solidFill>
                <a:latin typeface="Calibri"/>
              </a:defRPr>
            </a:pPr>
            <a:r>
              <a:t>mem-dog-semantic-search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58064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Vector 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553212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EC0"/>
                </a:solidFill>
                <a:latin typeface="Calibri"/>
              </a:defRPr>
            </a:pPr>
            <a:r>
              <a:t>Raw similarity search without LLM synthesis.</a:t>
            </a:r>
            <a:br/>
            <a:r>
              <a:t>Returns ranked results with scores.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56235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4D399"/>
                </a:solidFill>
                <a:latin typeface="Courier New"/>
              </a:defRPr>
            </a:pPr>
            <a:r>
              <a:t>POST /api/v1/ai/query/semantic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Multi-User Identity Resolution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A0AEC0"/>
                </a:solidFill>
                <a:latin typeface="Calibri"/>
              </a:defRPr>
            </a:pPr>
            <a:r>
              <a:t>One DigiMe instance serves multiple users with complete data isolation. Each sender is mapped to a user_id via their channel identity.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743200"/>
            <a:ext cx="502920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92608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  <a:latin typeface="Calibri"/>
              </a:defRPr>
            </a:pPr>
            <a:r>
              <a:t>Resolution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56616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Message arrives at webhook-gateway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9319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Extract (channel_type, peer_id)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429768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resolve_user_id() looks up identity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66344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EC0"/>
                </a:solidFill>
                <a:latin typeface="Calibri"/>
              </a:defRPr>
            </a:pPr>
            <a:r>
              <a:t>  →  Supabase direct read (fast path)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502920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EC0"/>
                </a:solidFill>
                <a:latin typeface="Calibri"/>
              </a:defRPr>
            </a:pPr>
            <a:r>
              <a:t>  →  Fallback: API lookup + 5-min cache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539496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4D399"/>
                </a:solidFill>
                <a:latin typeface="Calibri"/>
              </a:defRPr>
            </a:pPr>
            <a:r>
              <a:t>All API calls scoped to resolved user_id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743200"/>
            <a:ext cx="502920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292608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BBF24"/>
                </a:solidFill>
                <a:latin typeface="Calibri"/>
              </a:defRPr>
            </a:pPr>
            <a:r>
              <a:t>Example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3566160"/>
            <a:ext cx="4297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EC0"/>
                </a:solidFill>
                <a:latin typeface="Calibri"/>
              </a:defRPr>
            </a:pPr>
            <a:r>
              <a:t>Alice registers 3 channel identities:</a:t>
            </a:r>
            <a:br/>
            <a:br/>
            <a:r>
              <a:t>  (whatsapp, +1925...)   →  user_alice</a:t>
            </a:r>
            <a:br/>
            <a:r>
              <a:t>  (signal, alice_sig)    →  user_alice</a:t>
            </a:r>
            <a:br/>
            <a:r>
              <a:t>  (slack, U04ABC)        →  user_alice</a:t>
            </a:r>
            <a:br/>
            <a:br/>
            <a:r>
              <a:t>All 3 channels share one unified</a:t>
            </a:r>
            <a:br/>
            <a:r>
              <a:t>knowledge base. Bob can’t see Alice’s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25+ Supported Channels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EC0"/>
                </a:solidFill>
                <a:latin typeface="Calibri"/>
              </a:defRPr>
            </a:pPr>
            <a:r>
              <a:t>All channels routed through a single OpenClawBridgeAdapter. No per-channel code needed.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2468880"/>
          <a:ext cx="10362895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1447"/>
                <a:gridCol w="5181448"/>
              </a:tblGrid>
              <a:tr h="41148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Channels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Encrypted Messaging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Signal, Matrix, WhatsApp (bridge)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Chat Platforms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Slack, Discord, MS Teams, IRC, Google Chat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Asian Messaging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Line, Feishu, Zalo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Self-Hosted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Mattermost, Nextcloud Talk, Rocket.Chat, Synology Chat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Decentralized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Nostr, Matrix, Tlon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Apple / Streaming / Web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BlueBubbles / iMessage, Twitch, Webchat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Social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WeChat, Viber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5669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EC0"/>
                </a:solidFill>
                <a:latin typeface="Calibri"/>
              </a:defRPr>
            </a:pPr>
            <a:r>
              <a:t>Flexible field normalization: channel/channelType, sender/from, text/body/message/content — all mapped to UniversalEnvelope.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Deployment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EC0"/>
                </a:solidFill>
                <a:latin typeface="Calibri"/>
              </a:defRPr>
            </a:pPr>
            <a:r>
              <a:t>Single K8s pod in the webhook-gateway namespace. Serves all 25+ channels simultaneously.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2468880"/>
          <a:ext cx="50292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41148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Resource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Details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Namespace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webhook-gateway (shared)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Deployment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 replica, 2 CPU / 4Gi limit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Service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ClusterIP :18789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HTTPRoute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/oc/* → strips prefix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PVC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openclaw-home (persistent state)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Secrets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Gemini key, API key, gateway token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0" y="2468880"/>
            <a:ext cx="502920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265176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  <a:latin typeface="Calibri"/>
              </a:defRPr>
            </a:pPr>
            <a:r>
              <a:t>Key Config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32004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GEMINI_MODEL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32004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Calibri"/>
              </a:defRPr>
            </a:pPr>
            <a:r>
              <a:t>gemini-3.1-pro-preview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36576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MEM_DOG_API_URL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36576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Calibri"/>
              </a:defRPr>
            </a:pPr>
            <a:r>
              <a:t>http://api.mem-dog.svc:8080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41148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BRIDGE_URL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41148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Calibri"/>
              </a:defRPr>
            </a:pPr>
            <a:r>
              <a:t>http://webhook-gateway.svc:8080</a:t>
            </a:r>
            <a:br/>
            <a:r>
              <a:t>/webhooks/openclaw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45720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SOUL.md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45720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Calibri"/>
              </a:defRPr>
            </a:pPr>
            <a:r>
              <a:t>Always record via bridge,</a:t>
            </a:r>
            <a:br/>
            <a:r>
              <a:t>never use local files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50292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IDENTITY.md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50292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Calibri"/>
              </a:defRPr>
            </a:pPr>
            <a:r>
              <a:t>DigiMe persona definition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OpenClaw + Mem-Dog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1737360"/>
            <a:ext cx="3047695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0" y="2286000"/>
            <a:ext cx="6705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rPr sz="2000" b="1">
                <a:solidFill>
                  <a:srgbClr val="38BDF8"/>
                </a:solidFill>
                <a:latin typeface="Calibri"/>
              </a:rPr>
              <a:t>Connect  </a:t>
            </a:r>
            <a:r>
              <a:rPr sz="2000">
                <a:solidFill>
                  <a:srgbClr val="A0AEC0"/>
                </a:solidFill>
                <a:latin typeface="Calibri"/>
              </a:rPr>
              <a:t>to 25+ messaging platforms via OpenClaw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2724912"/>
            <a:ext cx="6705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rPr sz="2000" b="1">
                <a:solidFill>
                  <a:srgbClr val="38BDF8"/>
                </a:solidFill>
                <a:latin typeface="Calibri"/>
              </a:rPr>
              <a:t>Record  </a:t>
            </a:r>
            <a:r>
              <a:rPr sz="2000">
                <a:solidFill>
                  <a:srgbClr val="A0AEC0"/>
                </a:solidFill>
                <a:latin typeface="Calibri"/>
              </a:rPr>
              <a:t>every message automatically via bridge skill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3163824"/>
            <a:ext cx="6705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rPr sz="2000" b="1">
                <a:solidFill>
                  <a:srgbClr val="38BDF8"/>
                </a:solidFill>
                <a:latin typeface="Calibri"/>
              </a:rPr>
              <a:t>Enrich  </a:t>
            </a:r>
            <a:r>
              <a:rPr sz="2000">
                <a:solidFill>
                  <a:srgbClr val="A0AEC0"/>
                </a:solidFill>
                <a:latin typeface="Calibri"/>
              </a:rPr>
              <a:t>with 42 AI agents — classify, embed, extract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3602736"/>
            <a:ext cx="6705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rPr sz="2000" b="1">
                <a:solidFill>
                  <a:srgbClr val="38BDF8"/>
                </a:solidFill>
                <a:latin typeface="Calibri"/>
              </a:rPr>
              <a:t>Store  </a:t>
            </a:r>
            <a:r>
              <a:rPr sz="2000">
                <a:solidFill>
                  <a:srgbClr val="A0AEC0"/>
                </a:solidFill>
                <a:latin typeface="Calibri"/>
              </a:rPr>
              <a:t>in dual-layer temporal knowledge graph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4041648"/>
            <a:ext cx="6705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rPr sz="2000" b="1">
                <a:solidFill>
                  <a:srgbClr val="38BDF8"/>
                </a:solidFill>
                <a:latin typeface="Calibri"/>
              </a:rPr>
              <a:t>Search  </a:t>
            </a:r>
            <a:r>
              <a:rPr sz="2000">
                <a:solidFill>
                  <a:srgbClr val="A0AEC0"/>
                </a:solidFill>
                <a:latin typeface="Calibri"/>
              </a:rPr>
              <a:t>with 5 modes + 4 rerankers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4480560"/>
            <a:ext cx="6705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rPr sz="2000" b="1">
                <a:solidFill>
                  <a:srgbClr val="38BDF8"/>
                </a:solidFill>
                <a:latin typeface="Calibri"/>
              </a:rPr>
              <a:t>Answer  </a:t>
            </a:r>
            <a:r>
              <a:rPr sz="2000">
                <a:solidFill>
                  <a:srgbClr val="A0AEC0"/>
                </a:solidFill>
                <a:latin typeface="Calibri"/>
              </a:rPr>
              <a:t>with RAG chat and [1][2] citations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4919472"/>
            <a:ext cx="6705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rPr sz="2000" b="1">
                <a:solidFill>
                  <a:srgbClr val="38BDF8"/>
                </a:solidFill>
                <a:latin typeface="Calibri"/>
              </a:rPr>
              <a:t>Isolate  </a:t>
            </a:r>
            <a:r>
              <a:rPr sz="2000">
                <a:solidFill>
                  <a:srgbClr val="A0AEC0"/>
                </a:solidFill>
                <a:latin typeface="Calibri"/>
              </a:rPr>
              <a:t>per-user data via channel identity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5358384"/>
            <a:ext cx="6705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rPr sz="2000" b="1">
                <a:solidFill>
                  <a:srgbClr val="38BDF8"/>
                </a:solidFill>
                <a:latin typeface="Calibri"/>
              </a:rPr>
              <a:t>Deploy  </a:t>
            </a:r>
            <a:r>
              <a:rPr sz="2000">
                <a:solidFill>
                  <a:srgbClr val="A0AEC0"/>
                </a:solidFill>
                <a:latin typeface="Calibri"/>
              </a:rPr>
              <a:t>as a single K8s pod for all channels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852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34D399"/>
                </a:solidFill>
                <a:latin typeface="Calibri"/>
              </a:defRPr>
            </a:pPr>
            <a:r>
              <a:t>Any channel. One agent. All your knowledge.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