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gcWPFzQ6oIbJxLSJfT4l4xOpnj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865E3C-3DCB-48F2-B662-19DBDD40FB7B}">
  <a:tblStyle styleId="{6D865E3C-3DCB-48F2-B662-19DBDD40FB7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0003e1a6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e0003e1a67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0003e1a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e0003e1a6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0003e1a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e0003e1a6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Mem-Dog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4572000" y="2834640"/>
            <a:ext cx="3047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The Private AI System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AI should be private. Not as a feature — as the foundation.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42 AI Agents  ·  33 Channel Adapters  ·  300+ App Integrations  ·  5 Search Modes  ·  $0/month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731520" y="1463040"/>
            <a:ext cx="3291840" cy="384048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005840" y="1737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For Individuals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005840" y="2377440"/>
            <a:ext cx="2743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Personal thoughts, health records, financial details — one breach away from exposure. You pay per token, per seat, per month.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4389120" y="1463040"/>
            <a:ext cx="3291840" cy="384048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663440" y="1737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For Enterprises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4663440" y="2377440"/>
            <a:ext cx="2743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Trade secrets and customer data flow through third-party systems with opaque retention policies. Compliance teams can’t audit what they don’t control.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046720" y="1463040"/>
            <a:ext cx="3291840" cy="384048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8321040" y="1737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For Developers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8321040" y="2377440"/>
            <a:ext cx="2743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Memory SDK here, integration platform there, vector DB somewhere else, knowledge graph from another vendor — none of them talk to each other.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We built Mem-Dog to end that trade-off.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Mem-Dog?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 complete, self-hosted AI system that ingests data from 33 channel adapters and 300+ apps, enriches it with 42 specialized AI agents, stores it in a temporal knowledge graph, and makes it searchable through 5 search modes with RAG chat — all running on hardware you control.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731520" y="2560320"/>
            <a:ext cx="2560320" cy="3200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914400" y="28346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🔒 Private by Design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914400" y="347472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Data never leaves your network. No cloud dependency. Full offline/air-gapped capability.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3566160" y="2560320"/>
            <a:ext cx="2560320" cy="3200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749040" y="28346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⚡ Fast Locally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3749040" y="347472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6-layer deterministic classification. Most queries in milliseconds. 80% runs on the 4b model.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6400800" y="2560320"/>
            <a:ext cx="2560320" cy="3200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583680" y="28346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💰 Cost Efficient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6583680" y="347472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Local Ollama models. $0/month on a Mac Mini. 60-80% cheaper than cloud-only at scale.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9235440" y="2560320"/>
            <a:ext cx="2560320" cy="3200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9418320" y="28346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🧠 Genuinely Smart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9418320" y="347472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42 agents, dual-layer knowledge graph, 5 search modes, 4 rerankers, RAG chat with citations.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Complete Platform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4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3749050"/>
                <a:gridCol w="3749050"/>
                <a:gridCol w="37490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Mem-Dog Provides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Others Offer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Ingestion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 channel adapters + 300+ app integrations (Nango)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Mem0: API-only. Zep: SDK-only.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Enrichment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 typed AI agents, 6-layer classification, 60+ data types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Mem0: fact extraction only.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Storage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memory types, versioned mutations, 3 backends, per-item ACLs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Mem0: 3 types. Zep: messages only.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Knowledge Graph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Dual-layer Postgres + Graphiti/Neo4j with temporal reasoning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Zep: Graphiti only. Mem0: none.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modes (vector, FTS, hybrid, graph, full) + 4 rerankers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Mem0: vector only. Zep: semantic + graph.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chat with inline [1][2] citations, memory-scoped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Dify: chat builder. Others: BYO.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DigiMe conversational AI in 25+ messaging apps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equivalent in any competitor.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Studio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Search, Models, Routing, Agents, Infrastructure — all in one UI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equivalent.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web platform — dashboard, playground, telemetry, settings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Mem0: none. Zep: none.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SDKs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Python, TypeScript, Go, Rust, Ruby + LangChain/CrewAI/MCP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Varies.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" y="1463040"/>
            <a:ext cx="2286000" cy="11887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594360" y="155448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300+ Apps (Nango)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33 Channel Adapters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Slack, WhatsApp, Email...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57200" y="2926080"/>
            <a:ext cx="2286000" cy="11887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594360" y="301752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Webhook Gateway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Normalize → Universal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Envelope Format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474720" y="1463040"/>
            <a:ext cx="2286000" cy="11887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3611880" y="155448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UI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Next.js 14 / React 18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AI Studio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3474720" y="2926080"/>
            <a:ext cx="2286000" cy="11887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3611880" y="301752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(FastAPI)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33 routers, 80+ endpoints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Python 3.12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492240" y="1463040"/>
            <a:ext cx="2560320" cy="11887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6629400" y="155448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Webhook Pipeline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NATS JetStream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42 AI Agents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6-Layer Classification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492240" y="2926080"/>
            <a:ext cx="2560320" cy="11887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6629400" y="301752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Ollama (3 tiers)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Gemma3 4b/12b/27b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Qwen3-VL, Qwen3.5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9601200" y="1463040"/>
            <a:ext cx="2103120" cy="11887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9738360" y="15544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Postgres 16 + pgvector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GoTrue Auth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9601200" y="2926080"/>
            <a:ext cx="2103120" cy="11887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9738360" y="301752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Neo4j + Graphiti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Temporal Knowledge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/>
          </a:p>
        </p:txBody>
      </p:sp>
      <p:graphicFrame>
        <p:nvGraphicFramePr>
          <p:cNvPr id="153" name="Google Shape;153;p5"/>
          <p:cNvGraphicFramePr/>
          <p:nvPr/>
        </p:nvGraphicFramePr>
        <p:xfrm>
          <a:off x="457200" y="4572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2811775"/>
                <a:gridCol w="2811775"/>
                <a:gridCol w="2811775"/>
                <a:gridCol w="2811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3.12, FastAPI, 33 routers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8080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GKE (mem-dog)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Next.js 14, React 18, TypeScript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Run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NATS JetStream, ADK, 42 agents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8080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GKE (webhook-pipeline)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FastAPI, LiteLLM, 33 adapters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8080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GKE (webhook-gateway)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DigiMe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Node.js, OpenClaw, 4 skills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18789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GKE (webhook-gateway)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Multi-Channel Ingestion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57200" y="1280160"/>
            <a:ext cx="3566160" cy="4114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731520" y="14630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Path 1: Channel Ingestion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731520" y="19202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33 channel adapters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731520" y="2468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Channel delivers to Webhook Gateway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731520" y="28803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Normalize → UniversalEnvelope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731520" y="32918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Forward to API → Store + NATS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731520" y="37033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6-layer classify → Route to agent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731520" y="41148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LLM analysis → Viewpoint + Embedding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297680" y="1280160"/>
            <a:ext cx="3566160" cy="4114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4572000" y="14630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Path 2: Direct Ingestion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UI or REST API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POST /api/v1/data with metadata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Write to Graphiti as episode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4572000" y="32918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Optional: forward to pipeline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4572000" y="37033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Supports 6 upload modes in UI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8138160" y="1280160"/>
            <a:ext cx="3566160" cy="4114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412480" y="14630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Path 3: Conversational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8412480" y="19202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DigiMe Agent (25+ apps)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8412480" y="2468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User messages DigiMe on any platform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8412480" y="28803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mem-dog-bridge forwards to pipeline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8412480" y="32918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mem-dog-ingest stores explicit data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8412480" y="37033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Channel identity resolves user_id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33 Native Adapters: Slack, WhatsApp, Telegram, Email, Discord, GitHub, Jira, Linear, Salesforce, HubSpot, Zoom, MS Teams, Notion, Stripe, PagerDuty, Sentry, Datadog, and 16 more  |  15+ Bridge Channels via OpenClaw: Signal, Matrix, IRC, Google Chat, Line...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42-Agent AI Enrichment Pipeline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Ingest → Stage → Classify (6-layer) → Route → Analyze (LLM) → Viewpoint → Embedding → Entity Extraction → Graph</a:t>
            </a:r>
            <a:endParaRPr/>
          </a:p>
        </p:txBody>
      </p:sp>
      <p:graphicFrame>
        <p:nvGraphicFramePr>
          <p:cNvPr id="190" name="Google Shape;190;p7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1828800"/>
                <a:gridCol w="1828800"/>
                <a:gridCol w="18288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 not-downloaded detection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 → url_download agent first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 message detection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WhatsApp msg → channel_message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Explicit data_type field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 classification from caller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Payload field heuristic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 lat/lng → gps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MIME registry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application/pdf → pdf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 extension sniff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.csv → csv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classifier (fallback)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Gemma3:4b classifies ambiguous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" name="Google Shape;191;p7"/>
          <p:cNvGraphicFramePr/>
          <p:nvPr/>
        </p:nvGraphicFramePr>
        <p:xfrm>
          <a:off x="621792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1828800"/>
                <a:gridCol w="1828800"/>
                <a:gridCol w="18288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PDF, Office, HTML, Markdown, Web Page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Image, Image Batch, Audio/Video URL/Stream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Communication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Chat, Channel Msg, Email, Feed, Calendar, Conferencing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JSON, CSV, YAML, XML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&amp; Logs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Code, Log File, Log Stream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 &amp; IoT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GPS, Biometric, IoT Sensor, Sensor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Geospatial, LiDAR, 3D Model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Specialized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Financial, Industrial, Infra, Scientific, Satellite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 Blob, Archive, Time Series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Medical Imaging, Vehicle Telemetry, URL Download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7"/>
          <p:cNvSpPr txBox="1"/>
          <p:nvPr/>
        </p:nvSpPr>
        <p:spPr>
          <a:xfrm>
            <a:off x="472338" y="6550195"/>
            <a:ext cx="112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Most data classified deterministically in layers 0-5 — avoiding LLM calls entirely (saves cost + latency)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Studio</a:t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Unified control center for all AI capabilities</a:t>
            </a:r>
            <a:endParaRPr/>
          </a:p>
        </p:txBody>
      </p:sp>
      <p:graphicFrame>
        <p:nvGraphicFramePr>
          <p:cNvPr id="200" name="Google Shape;200;p8"/>
          <p:cNvGraphicFramePr/>
          <p:nvPr/>
        </p:nvGraphicFramePr>
        <p:xfrm>
          <a:off x="457200" y="1737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5623550"/>
                <a:gridCol w="5623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Does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 &amp; Chat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search with 5 modes + 4 rerankers. Viewpoint browser. Embedding manager. Knowledge chat with [1][2] citations.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Garden — connect 16+ AI providers. Encrypted API key storage. Model catalog. Per-user provider config.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Smart Routing — per-agent-type model assignment. Primary + fallback chains. Visual routing table.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Processing Flags (enable/disable per type) + Agent Configs (custom prompts, schemas, model overrides).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Infrastructure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K8s Pod Management — create, scale (0-3), delete Ollama pods from browser. Logs, metrics, status.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0003e1a67_0_30"/>
          <p:cNvSpPr txBox="1"/>
          <p:nvPr/>
        </p:nvSpPr>
        <p:spPr>
          <a:xfrm>
            <a:off x="731520" y="27432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Studio</a:t>
            </a:r>
            <a:endParaRPr/>
          </a:p>
        </p:txBody>
      </p:sp>
      <p:sp>
        <p:nvSpPr>
          <p:cNvPr id="206" name="Google Shape;206;g3e0003e1a67_0_30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g3e0003e1a67_0_30"/>
          <p:cNvGraphicFramePr/>
          <p:nvPr/>
        </p:nvGraphicFramePr>
        <p:xfrm>
          <a:off x="503400" y="1915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1828800"/>
                <a:gridCol w="1828800"/>
                <a:gridCol w="18288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Model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For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Gemma3:4b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JSON, CSV, YAML, IoT, simple text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Gemma3:12b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Code, email, chat, financial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Gemma3:27b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PDFs, Office docs, complex documents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Multimodal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Qwen3-VL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Images, visual PDFs, screenshots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Omni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Qwen3.5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Audio, video, multi-format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sp>
        <p:nvSpPr>
          <p:cNvPr id="208" name="Google Shape;208;g3e0003e1a67_0_30"/>
          <p:cNvSpPr txBox="1"/>
          <p:nvPr/>
        </p:nvSpPr>
        <p:spPr>
          <a:xfrm>
            <a:off x="6562450" y="1466575"/>
            <a:ext cx="457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16+ AI Providers</a:t>
            </a:r>
            <a:endParaRPr/>
          </a:p>
        </p:txBody>
      </p:sp>
      <p:sp>
        <p:nvSpPr>
          <p:cNvPr id="209" name="Google Shape;209;g3e0003e1a67_0_30"/>
          <p:cNvSpPr txBox="1"/>
          <p:nvPr/>
        </p:nvSpPr>
        <p:spPr>
          <a:xfrm>
            <a:off x="6562450" y="1999690"/>
            <a:ext cx="502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Ollama (local) · Ollama Cloud · Google Gemini · OpenAI · Anthropic · Groq · Mistral · Cohere · DeepSeek · xAI · OpenRouter · Together AI · HuggingFace · AWS Bedrock · vLLM · LiteLLM</a:t>
            </a:r>
            <a:endParaRPr/>
          </a:p>
        </p:txBody>
      </p:sp>
      <p:sp>
        <p:nvSpPr>
          <p:cNvPr id="210" name="Google Shape;210;g3e0003e1a67_0_30"/>
          <p:cNvSpPr txBox="1"/>
          <p:nvPr/>
        </p:nvSpPr>
        <p:spPr>
          <a:xfrm>
            <a:off x="503395" y="1343900"/>
            <a:ext cx="457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5-Tier Smart Routing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 Knowledge Graph</a:t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57200" y="1280160"/>
            <a:ext cx="5577840" cy="3657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Layer 1: Postgres</a:t>
            </a:r>
            <a:endParaRPr/>
          </a:p>
        </p:txBody>
      </p:sp>
      <p:sp>
        <p:nvSpPr>
          <p:cNvPr id="219" name="Google Shape;219;p9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Always Active, Zero Infrastructure</a:t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8 entity types: person, org, product, location, date, URL, concept, event</a:t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731520" y="285292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Directed relationships (works_at, located_in, etc.)</a:t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731520" y="323697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Entity → source data mappings</a:t>
            </a:r>
            <a:endParaRPr/>
          </a:p>
        </p:txBody>
      </p:sp>
      <p:sp>
        <p:nvSpPr>
          <p:cNvPr id="223" name="Google Shape;223;p9"/>
          <p:cNvSpPr txBox="1"/>
          <p:nvPr/>
        </p:nvSpPr>
        <p:spPr>
          <a:xfrm>
            <a:off x="731520" y="362102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Deduplicated via canonical form unique index</a:t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731520" y="400507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No additional infra — same Postgres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6309360" y="1280160"/>
            <a:ext cx="5577840" cy="3657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Layer 2: Graphiti + Neo4j</a:t>
            </a:r>
            <a:endParaRPr/>
          </a:p>
        </p:txBody>
      </p:sp>
      <p:sp>
        <p:nvSpPr>
          <p:cNvPr id="227" name="Google Shape;227;p9"/>
          <p:cNvSpPr txBox="1"/>
          <p:nvPr/>
        </p:nvSpPr>
        <p:spPr>
          <a:xfrm>
            <a:off x="6583680" y="19202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Optional, Temporal Reasoning</a:t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6583680" y="24688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Temporal facts with valid_at / invalid_at timestamps</a:t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6583680" y="285292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Point-in-time queries ("Who was CEO in 2024?")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6583680" y="323697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LLM-powered entity resolution &amp; dedup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6583680" y="362102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Community detection via label propagation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6583680" y="400507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Fire-and-forget dual-write from API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Entity-Aware RAG: Query → Match entities → BFS graph traversal → Inject entity context into LLM → Return enriched answers with structured knowledge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Search Modes + 4 Rerankers</a:t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" name="Google Shape;240;p10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2811775"/>
                <a:gridCol w="2811775"/>
                <a:gridCol w="2811775"/>
                <a:gridCol w="2811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Engine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It Works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pgvector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Cosine similarity over embeddings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 meaning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 tsvector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BM25 keyword matching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Exact terms, names, IDs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hybrid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pgvector + tsvector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 + BM25 via Reciprocal Rank Fusion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purpose (default)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graph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Graphiti + Neo4j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BFS traversal + semantic search on knowledge graph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Entity relationships, temporal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engines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Hybrid + Graph in parallel, RRF merged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Maximum recall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1" name="Google Shape;241;p10"/>
          <p:cNvGraphicFramePr/>
          <p:nvPr/>
        </p:nvGraphicFramePr>
        <p:xfrm>
          <a:off x="457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3749050"/>
                <a:gridCol w="3749050"/>
                <a:gridCol w="37490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Reranker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To Use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scores from search engine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Fast, good for simple queries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RRF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Reciprocal Rank Fusion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Merging results from multiple modes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Maximal Marginal Relevance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Diverse results, not just top-N similar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Cross-encoder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LLM-scored relevance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 accuracy, model re-scores each result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10"/>
          <p:cNvSpPr/>
          <p:nvPr/>
        </p:nvSpPr>
        <p:spPr>
          <a:xfrm>
            <a:off x="472350" y="5956800"/>
            <a:ext cx="10946100" cy="6402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731520" y="5521473"/>
            <a:ext cx="27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RAG Chat with Citations</a:t>
            </a:r>
            <a:endParaRPr/>
          </a:p>
        </p:txBody>
      </p:sp>
      <p:sp>
        <p:nvSpPr>
          <p:cNvPr id="244" name="Google Shape;244;p10"/>
          <p:cNvSpPr txBox="1"/>
          <p:nvPr/>
        </p:nvSpPr>
        <p:spPr>
          <a:xfrm>
            <a:off x="731520" y="6013785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Search → Rerank → Build numbered context → LLM + conversation history → Answer with inline [1] [2] [3] citation markers → Memory-scoped results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System</a:t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1" name="Google Shape;251;p11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2133600"/>
                <a:gridCol w="2133600"/>
                <a:gridCol w="21336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TTL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hour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 hours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days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days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episodic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Temporary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Organizational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organizational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252;p11"/>
          <p:cNvSpPr txBox="1"/>
          <p:nvPr/>
        </p:nvSpPr>
        <p:spPr>
          <a:xfrm>
            <a:off x="7315200" y="118872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7315200" y="17373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Versioning</a:t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7315200" y="20116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Every mutation creates a new version with diff tracking</a:t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7315200" y="237744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Control</a:t>
            </a: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7315200" y="26517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4 levels: private, shared, public, restricted + shared_with list</a:t>
            </a:r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7315200" y="301752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TTL &amp; Expiry</a:t>
            </a:r>
            <a:endParaRPr/>
          </a:p>
        </p:txBody>
      </p:sp>
      <p:sp>
        <p:nvSpPr>
          <p:cNvPr id="258" name="Google Shape;258;p11"/>
          <p:cNvSpPr txBox="1"/>
          <p:nvPr/>
        </p:nvSpPr>
        <p:spPr>
          <a:xfrm>
            <a:off x="7315200" y="32918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Default TTL per type. Override with ttl_hours or no_expiry=true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7315200" y="365760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Compression</a:t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7315200" y="39319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Summarize verbose memories, archive originals, keep key facts</a:t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7315200" y="429768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Scoping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7315200" y="45720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Memories linked to org/project hierarchy for multi-tenant isolation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7315200" y="49377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 Format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7315200" y="52120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mem_&lt;type&gt;_&lt;ulid&gt; — e.g., mem_conv_01JQ, mem_user_01JQ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DigiMe: Your Personal AI Assistant</a:t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 AI agent that lives in your messaging apps — turning any chat into a window to your knowledge base.</a:t>
            </a:r>
            <a:endParaRPr/>
          </a:p>
        </p:txBody>
      </p:sp>
      <p:graphicFrame>
        <p:nvGraphicFramePr>
          <p:cNvPr id="272" name="Google Shape;272;p12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3749050"/>
                <a:gridCol w="3749050"/>
                <a:gridCol w="37490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Behavior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mem-dog-bridge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Record everything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Forwards EVERY message to pipeline. Non-negotiable.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mem-dog-ingest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 explicit data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Stores notes, facts, session memories via POST /api/v1/data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mem-dog-query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Lookup data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Retrieves memories, data items, lists via API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mem-dog-semantic-search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 by meaning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 similarity search via POST /api/v1/ai/query/semantic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12"/>
          <p:cNvSpPr/>
          <p:nvPr/>
        </p:nvSpPr>
        <p:spPr>
          <a:xfrm>
            <a:off x="457200" y="4591975"/>
            <a:ext cx="5029200" cy="1645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594295" y="4799593"/>
            <a:ext cx="475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Multi-User Data Isolation</a:t>
            </a:r>
            <a:endParaRPr/>
          </a:p>
        </p:txBody>
      </p:sp>
      <p:sp>
        <p:nvSpPr>
          <p:cNvPr id="275" name="Google Shape;275;p12"/>
          <p:cNvSpPr txBox="1"/>
          <p:nvPr/>
        </p:nvSpPr>
        <p:spPr>
          <a:xfrm>
            <a:off x="594308" y="5199795"/>
            <a:ext cx="4755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User A (WhatsApp) → channel identity → user_id_A</a:t>
            </a:r>
            <a:b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User B (Signal) → channel identity → user_id_B</a:t>
            </a:r>
            <a:b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All queries scoped to user_id. User A cannot see User B's data.</a:t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6126450" y="4663975"/>
            <a:ext cx="5577900" cy="1573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6400800" y="4731055"/>
            <a:ext cx="50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25+ Messaging Platforms</a:t>
            </a:r>
            <a:endParaRPr/>
          </a:p>
        </p:txBody>
      </p:sp>
      <p:sp>
        <p:nvSpPr>
          <p:cNvPr id="278" name="Google Shape;278;p12"/>
          <p:cNvSpPr txBox="1"/>
          <p:nvPr/>
        </p:nvSpPr>
        <p:spPr>
          <a:xfrm>
            <a:off x="6400800" y="5199795"/>
            <a:ext cx="5029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WhatsApp · Telegram · Signal · Slack · Discord · Matrix · MS Teams · IRC · Google Chat · Line · Feishu · Mattermost · Nextcloud Talk · Nostr · Twitch · Zalo · iMessage · Rocket.Chat · WeChat · Viber · Webchat · and more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Platform</a:t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13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2651750"/>
                <a:gridCol w="26517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Nango Provides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300+ provider templates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OAuth flows, API schemas, webhooks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OAuth2 flows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 code grant, PKCE, state mgmt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 token refresh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Transparent, no retry logic needed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Credential encryption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AES-256-GCM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Per-user connections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end_user_id for multi-tenant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6" name="Google Shape;286;p13"/>
          <p:cNvGraphicFramePr/>
          <p:nvPr/>
        </p:nvGraphicFramePr>
        <p:xfrm>
          <a:off x="612648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2788925"/>
                <a:gridCol w="2788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Mem-Dog Adds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Per-user webhooks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whk_&lt;ulid&gt; with HMAC secrets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 channel adapters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 → UniversalEnvelope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 AI agents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Auto-enrich all ingested data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Knowledge graph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Dual-write Postgres + Graphiti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Credential proxy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/proxy/{provider}/{path}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Response normalize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?normalize=contact|calendar_event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Write-back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Drive, Gmail, Zoom routers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sp>
        <p:nvSpPr>
          <p:cNvPr id="287" name="Google Shape;287;p13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Categories: CRM · Email · Messaging · Project Management · Cloud Storage · Social Media · Developer Tools · Analytics · E-Commerce · Payments · HR · Accounting · Marketing · Support · and more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UI</a:t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4" name="Google Shape;294;p14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3749050"/>
                <a:gridCol w="3749050"/>
                <a:gridCol w="37490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They Do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Knowledge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Data, Memories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Browse ingested data. Manage memories with TTL, ACLs, versioning.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Studio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Search, Models, Routing, Agents, Infra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 search, model mgmt, smart routing, agent config, K8s pods.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Insights, Telemetry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Stats dashboard. OpenTelemetry waterfall trace viewer.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Playground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 Simulator, Data Insert (6 modes), Knowledge Chat, MCP tester.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Profile, Orgs, Apps, Webhooks, Keys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profile, org hierarchy, Nango integrations, webhook mgmt, API keys.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14"/>
          <p:cNvSpPr txBox="1"/>
          <p:nvPr/>
        </p:nvSpPr>
        <p:spPr>
          <a:xfrm>
            <a:off x="731520" y="4477325"/>
            <a:ext cx="457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Playground</a:t>
            </a:r>
            <a:endParaRPr/>
          </a:p>
        </p:txBody>
      </p:sp>
      <p:sp>
        <p:nvSpPr>
          <p:cNvPr id="296" name="Google Shape;296;p14"/>
          <p:cNvSpPr txBox="1"/>
          <p:nvPr/>
        </p:nvSpPr>
        <p:spPr>
          <a:xfrm>
            <a:off x="731525" y="5083696"/>
            <a:ext cx="4787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Channel Simulator — test webhooks across 33 channels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6-Mode Upload — text, file, URL, camera, voice, video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Knowledge Chat — RAG with mode/reranker selectors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MCP Playground — test 8 MCP tools interactively</a:t>
            </a:r>
            <a:endParaRPr/>
          </a:p>
        </p:txBody>
      </p:sp>
      <p:sp>
        <p:nvSpPr>
          <p:cNvPr id="297" name="Google Shape;297;p14"/>
          <p:cNvSpPr txBox="1"/>
          <p:nvPr/>
        </p:nvSpPr>
        <p:spPr>
          <a:xfrm>
            <a:off x="6400800" y="4464125"/>
            <a:ext cx="457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/>
          </a:p>
        </p:txBody>
      </p:sp>
      <p:sp>
        <p:nvSpPr>
          <p:cNvPr id="298" name="Google Shape;298;p14"/>
          <p:cNvSpPr txBox="1"/>
          <p:nvPr/>
        </p:nvSpPr>
        <p:spPr>
          <a:xfrm>
            <a:off x="6400800" y="5083696"/>
            <a:ext cx="5029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Next.js 14 + React 18 + TypeScript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Tailwind CSS — dark-mode glassmorphism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Server-side proxy rewrites to API/Auth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NEXT_PUBLIC_* baked at Docker build time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 Experience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5" name="Google Shape;305;p15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1828800"/>
                <a:gridCol w="1828800"/>
                <a:gridCol w="18288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Language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httpx, async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70+ methods + Simple facade (8 methods)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TypeScript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 fetch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API coverage, type-safe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stdlib net/http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Idiomatic, no external deps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 tokio + reqwest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Fully async, zero-cost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Ruby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 HTTP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Clean Ruby interface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6" name="Google Shape;306;p15"/>
          <p:cNvGraphicFramePr/>
          <p:nvPr/>
        </p:nvGraphicFramePr>
        <p:xfrm>
          <a:off x="621792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2743200"/>
                <a:gridCol w="2743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LangChain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ChatMessageHistory + Retriever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CrewAI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save/search persistent memory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 calling tool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tools for Claude Desktop, Cursor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307" name="Google Shape;307;p15"/>
          <p:cNvSpPr/>
          <p:nvPr/>
        </p:nvSpPr>
        <p:spPr>
          <a:xfrm>
            <a:off x="6217920" y="4206240"/>
            <a:ext cx="5486400" cy="2286000"/>
          </a:xfrm>
          <a:prstGeom prst="roundRect">
            <a:avLst>
              <a:gd fmla="val 16667" name="adj"/>
            </a:avLst>
          </a:prstGeom>
          <a:solidFill>
            <a:srgbClr val="1A1A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0003e1a67_0_18"/>
          <p:cNvSpPr txBox="1"/>
          <p:nvPr/>
        </p:nvSpPr>
        <p:spPr>
          <a:xfrm>
            <a:off x="731520" y="27432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 Experience</a:t>
            </a:r>
            <a:endParaRPr/>
          </a:p>
        </p:txBody>
      </p:sp>
      <p:sp>
        <p:nvSpPr>
          <p:cNvPr id="313" name="Google Shape;313;g3e0003e1a67_0_18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0003e1a67_0_18"/>
          <p:cNvSpPr txBox="1"/>
          <p:nvPr/>
        </p:nvSpPr>
        <p:spPr>
          <a:xfrm>
            <a:off x="650695" y="1383125"/>
            <a:ext cx="457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Server — 8 Tools</a:t>
            </a:r>
            <a:endParaRPr/>
          </a:p>
        </p:txBody>
      </p:sp>
      <p:graphicFrame>
        <p:nvGraphicFramePr>
          <p:cNvPr id="315" name="Google Shape;315;g3e0003e1a67_0_18"/>
          <p:cNvGraphicFramePr/>
          <p:nvPr/>
        </p:nvGraphicFramePr>
        <p:xfrm>
          <a:off x="480300" y="19548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2743200"/>
                <a:gridCol w="2743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Does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mem_dog_add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 new data with tags/metadata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mem_dog_search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 search with mode selection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mem_dog_get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Retrieve a specific data item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mem_dog_list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data with filters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mem_dog_delete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Delete data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mem_dog_entities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Query knowledge graph entities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mem_dog_memories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and manage memories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mem_dog_chat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chat with citations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316" name="Google Shape;316;g3e0003e1a67_0_18"/>
          <p:cNvSpPr txBox="1"/>
          <p:nvPr/>
        </p:nvSpPr>
        <p:spPr>
          <a:xfrm>
            <a:off x="6597100" y="1413875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 SDK — 8 Methods, Full Power</a:t>
            </a:r>
            <a:endParaRPr/>
          </a:p>
        </p:txBody>
      </p:sp>
      <p:sp>
        <p:nvSpPr>
          <p:cNvPr id="317" name="Google Shape;317;g3e0003e1a67_0_18"/>
          <p:cNvSpPr/>
          <p:nvPr/>
        </p:nvSpPr>
        <p:spPr>
          <a:xfrm>
            <a:off x="6217920" y="4206240"/>
            <a:ext cx="5486400" cy="2286000"/>
          </a:xfrm>
          <a:prstGeom prst="roundRect">
            <a:avLst>
              <a:gd fmla="val 16667" name="adj"/>
            </a:avLst>
          </a:prstGeom>
          <a:solidFill>
            <a:srgbClr val="1A1A2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e0003e1a67_0_18"/>
          <p:cNvSpPr txBox="1"/>
          <p:nvPr/>
        </p:nvSpPr>
        <p:spPr>
          <a:xfrm>
            <a:off x="6516275" y="1954880"/>
            <a:ext cx="5029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from mem_dog_client import MemDog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m = MemDog(url, api_key="md_...", user_id="u1")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m.add("Meeting notes", tags=["standup"])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results = m.search("standup?", use_ai=True)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entities = m.entities("Google")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item = m.get("data_01ABC...")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m.compress("mem_session_xyz")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related = m.related("data_01ABC...")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&amp; Data Privacy</a:t>
            </a: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5" name="Google Shape;325;p16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2743200"/>
                <a:gridCol w="2743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Authentication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Supabase Auth (email + Google OAuth)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 Keys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Per-user md_* keys, O(1) lookup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JWT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Supabase sub claim, auto-profile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Credentials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AES-256-GCM (Nango) + Fernet (AI keys)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Isolation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user_id scoping on every table/query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Control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levels + shared_with per item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 key, IP allowlist, rate limiting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Webhooks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HMAC per endpoint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K8s RBAC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Pod mgmt restricted to namespace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26;p16"/>
          <p:cNvSpPr/>
          <p:nvPr/>
        </p:nvSpPr>
        <p:spPr>
          <a:xfrm>
            <a:off x="6217920" y="1188720"/>
            <a:ext cx="5486400" cy="36576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Zero Trust (Local Mode)</a:t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6492240" y="19202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User (WhatsApp/Signal/Slack) — encrypted channel</a:t>
            </a:r>
            <a:endParaRPr/>
          </a:p>
        </p:txBody>
      </p:sp>
      <p:sp>
        <p:nvSpPr>
          <p:cNvPr id="329" name="Google Shape;329;p16"/>
          <p:cNvSpPr txBox="1"/>
          <p:nvPr/>
        </p:nvSpPr>
        <p:spPr>
          <a:xfrm>
            <a:off x="6492240" y="222199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↓  OpenClaw Node (your pod)</a:t>
            </a:r>
            <a:endParaRPr/>
          </a:p>
        </p:txBody>
      </p:sp>
      <p:sp>
        <p:nvSpPr>
          <p:cNvPr id="330" name="Google Shape;330;p16"/>
          <p:cNvSpPr txBox="1"/>
          <p:nvPr/>
        </p:nvSpPr>
        <p:spPr>
          <a:xfrm>
            <a:off x="6492240" y="2523744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↓  Webhook Gateway (your pod, identity resolution)</a:t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6492240" y="2825496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↓  42 AI Agents + Ollama (your pod, LOCAL model)</a:t>
            </a:r>
            <a:endParaRPr/>
          </a:p>
        </p:txBody>
      </p:sp>
      <p:sp>
        <p:nvSpPr>
          <p:cNvPr id="332" name="Google Shape;332;p16"/>
          <p:cNvSpPr txBox="1"/>
          <p:nvPr/>
        </p:nvSpPr>
        <p:spPr>
          <a:xfrm>
            <a:off x="6492240" y="31272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↓  Postgres + Neo4j (your pod, your disk)</a:t>
            </a:r>
            <a:endParaRPr/>
          </a:p>
        </p:txBody>
      </p:sp>
      <p:sp>
        <p:nvSpPr>
          <p:cNvPr id="333" name="Google Shape;333;p16"/>
          <p:cNvSpPr txBox="1"/>
          <p:nvPr/>
        </p:nvSpPr>
        <p:spPr>
          <a:xfrm>
            <a:off x="6492240" y="3429000"/>
            <a:ext cx="493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↓  Search/RAG (your pod, local </a:t>
            </a:r>
            <a:r>
              <a:rPr lang="en-US" sz="12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pg vector</a:t>
            </a:r>
            <a:r>
              <a:rPr b="0" i="0" lang="en-US" sz="12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6492240" y="373075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A0AE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6492240" y="4032504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Data never leaves your infrastructure.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6492240" y="4334256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Zero third-party API calls in full local mode.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0003e1a67_0_0"/>
          <p:cNvSpPr txBox="1"/>
          <p:nvPr/>
        </p:nvSpPr>
        <p:spPr>
          <a:xfrm>
            <a:off x="731520" y="27432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&amp; Data Privacy</a:t>
            </a:r>
            <a:endParaRPr/>
          </a:p>
        </p:txBody>
      </p:sp>
      <p:sp>
        <p:nvSpPr>
          <p:cNvPr id="342" name="Google Shape;342;g3e0003e1a67_0_0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e0003e1a67_0_0"/>
          <p:cNvSpPr txBox="1"/>
          <p:nvPr/>
        </p:nvSpPr>
        <p:spPr>
          <a:xfrm>
            <a:off x="6492240" y="3730752"/>
            <a:ext cx="493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A0AE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4" name="Google Shape;344;g3e0003e1a67_0_0"/>
          <p:cNvGraphicFramePr/>
          <p:nvPr/>
        </p:nvGraphicFramePr>
        <p:xfrm>
          <a:off x="584200" y="1536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5623550"/>
                <a:gridCol w="5623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Mem-Dog Helps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Healthcare (HIPAA)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 Mini in clinic. Patient data never leaves building. Local Ollama.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(privilege)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Attorney-client data processed locally. No third party sees content.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Corporate IP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Roadmaps, financials in local Postgres. 42 agents classify without external calls.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EU (GDPR)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Host in Germany. Data residency by physics. DELETE = provable erasure.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Air-gapped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stack runs without internet. Ollama, Postgres, Neo4j — all local.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 Advantage</a:t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" name="Google Shape;351;p17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2811775"/>
                <a:gridCol w="2811775"/>
                <a:gridCol w="2811775"/>
                <a:gridCol w="2811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Category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Mem-Dog (Mac Mini)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Mem-Dog (GKE)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SaaS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inference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 (local Ollama)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$15-50 (Gemini)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~$160/mo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 (local)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$5-15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~$20/mo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 fee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$99+/mo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Infrastructure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 (one-time HW)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~$150-300/mo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Included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Per-seat fee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Per-user pricing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$0/month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$170-365/month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$280-500+/month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352" name="Google Shape;352;p17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60-80% Cheaper at Scale</a:t>
            </a:r>
            <a:endParaRPr/>
          </a:p>
        </p:txBody>
      </p:sp>
      <p:sp>
        <p:nvSpPr>
          <p:cNvPr id="353" name="Google Shape;353;p17"/>
          <p:cNvSpPr txBox="1"/>
          <p:nvPr/>
        </p:nvSpPr>
        <p:spPr>
          <a:xfrm>
            <a:off x="731520" y="4572000"/>
            <a:ext cx="50292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6-layer deterministic classification — avoids LLM calls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80% of data processes on smallest model (Gemma3:4b)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5-tier smart routing — only complex content escalates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Local embeddings (</a:t>
            </a:r>
            <a:r>
              <a:rPr lang="en-US" sz="13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embedding gemma</a:t>
            </a: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) — no API costs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No per-seat licensing — one deployment serves all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•  Fixed infrastructure cost, not per-query</a:t>
            </a:r>
            <a:endParaRPr/>
          </a:p>
        </p:txBody>
      </p:sp>
      <p:graphicFrame>
        <p:nvGraphicFramePr>
          <p:cNvPr id="354" name="Google Shape;354;p17"/>
          <p:cNvGraphicFramePr/>
          <p:nvPr/>
        </p:nvGraphicFramePr>
        <p:xfrm>
          <a:off x="6217920" y="411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 Mini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 Cost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You Get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M2 16GB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stack, cloud LLMs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M4 Pro 48GB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 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Everything + local 4b + embeddings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M4 Pro/Max 64GB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 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Ollama models incl. 27b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Mem-Dog Compares</a:t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1" name="Google Shape;361;p18"/>
          <p:cNvGraphicFramePr/>
          <p:nvPr/>
        </p:nvGraphicFramePr>
        <p:xfrm>
          <a:off x="27432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1658975"/>
                <a:gridCol w="1658975"/>
                <a:gridCol w="1658975"/>
                <a:gridCol w="1658975"/>
                <a:gridCol w="1658975"/>
                <a:gridCol w="1658975"/>
                <a:gridCol w="16590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Mem-Dog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BerryDB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Snowflake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Databricks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Self-hosted / air-gapped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AI models ($0)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 channel adapters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300+ app integrations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 AI agents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Temporal knowledge graph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search + 4 rerankers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chat with citations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memory types + TTL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DigiMe agent (25+ apps)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Studio UI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MCP server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Multi-language SDKs (5)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Petabyte analytics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Options</a:t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8" name="Google Shape;368;p19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3749050"/>
                <a:gridCol w="3749050"/>
                <a:gridCol w="37490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You Get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(Docker Compose)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docker compose up — 11 services, hot-reload, local storage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Dev, eval, personal use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Cloud (GKE)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Production: API + pipeline + gateway on GKE, UI on Cloud Run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Teams, production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 Mini Home Server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stack on Apple Silicon. Native GPU for Ollama.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Privacy-first, small teams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sp>
        <p:nvSpPr>
          <p:cNvPr id="369" name="Google Shape;369;p19"/>
          <p:cNvSpPr txBox="1"/>
          <p:nvPr/>
        </p:nvSpPr>
        <p:spPr>
          <a:xfrm>
            <a:off x="457195" y="3531030"/>
            <a:ext cx="457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GKE Namespace Layout</a:t>
            </a:r>
            <a:endParaRPr/>
          </a:p>
        </p:txBody>
      </p:sp>
      <p:graphicFrame>
        <p:nvGraphicFramePr>
          <p:cNvPr id="370" name="Google Shape;370;p19"/>
          <p:cNvGraphicFramePr/>
          <p:nvPr/>
        </p:nvGraphicFramePr>
        <p:xfrm>
          <a:off x="457200" y="40404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{6D865E3C-3DCB-48F2-B662-19DBDD40FB7B}</a:tableStyleId>
              </a:tblPr>
              <a:tblGrid>
                <a:gridCol w="2743200"/>
                <a:gridCol w="2743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BD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mem-dog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API, MCP Server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webhook-pipeline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NATS worker, 42 agents, Ollama (3 tiers)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webhook-gateway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Gateway, DigiMe (OpenClaw Node)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supabase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 16, GoTrue, Kong, PostgREST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neo4j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Neo4j 5.26 Community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51F3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nango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Nango Server + Nango Postgres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371" name="Google Shape;371;p19"/>
          <p:cNvSpPr/>
          <p:nvPr/>
        </p:nvSpPr>
        <p:spPr>
          <a:xfrm>
            <a:off x="6326900" y="3786901"/>
            <a:ext cx="5377500" cy="2796900"/>
          </a:xfrm>
          <a:prstGeom prst="roundRect">
            <a:avLst>
              <a:gd fmla="val 16667" name="adj"/>
            </a:avLst>
          </a:prstGeom>
          <a:solidFill>
            <a:srgbClr val="1A1A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 txBox="1"/>
          <p:nvPr/>
        </p:nvSpPr>
        <p:spPr>
          <a:xfrm>
            <a:off x="6400800" y="3531032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Deploy Commands</a:t>
            </a:r>
            <a:endParaRPr/>
          </a:p>
        </p:txBody>
      </p:sp>
      <p:sp>
        <p:nvSpPr>
          <p:cNvPr id="373" name="Google Shape;373;p19"/>
          <p:cNvSpPr txBox="1"/>
          <p:nvPr/>
        </p:nvSpPr>
        <p:spPr>
          <a:xfrm>
            <a:off x="6400800" y="4042360"/>
            <a:ext cx="50292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# Local — everything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# GKE — per-component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GKE_CLUSTER=open-jaw GKE_ZONE=us-central1-a \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  ./scripts/manual-deploy.sh deploy-api-gke \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  -p memdog-dev -e dev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# UI → Cloud Run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./scripts/manual-deploy.sh deploy-ui \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  -p memdog-dev -e dev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0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the Numbers</a:t>
            </a: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457200" y="137160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 txBox="1"/>
          <p:nvPr/>
        </p:nvSpPr>
        <p:spPr>
          <a:xfrm>
            <a:off x="548640" y="141732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</p:txBody>
      </p:sp>
      <p:sp>
        <p:nvSpPr>
          <p:cNvPr id="382" name="Google Shape;382;p20"/>
          <p:cNvSpPr txBox="1"/>
          <p:nvPr/>
        </p:nvSpPr>
        <p:spPr>
          <a:xfrm>
            <a:off x="548640" y="19202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AI Agents</a:t>
            </a: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3383280" y="137160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 txBox="1"/>
          <p:nvPr/>
        </p:nvSpPr>
        <p:spPr>
          <a:xfrm>
            <a:off x="3474720" y="141732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385" name="Google Shape;385;p20"/>
          <p:cNvSpPr txBox="1"/>
          <p:nvPr/>
        </p:nvSpPr>
        <p:spPr>
          <a:xfrm>
            <a:off x="3474720" y="19202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Channel Adapters</a:t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6309360" y="137160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6400800" y="141732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300+</a:t>
            </a:r>
            <a:endParaRPr/>
          </a:p>
        </p:txBody>
      </p:sp>
      <p:sp>
        <p:nvSpPr>
          <p:cNvPr id="388" name="Google Shape;388;p20"/>
          <p:cNvSpPr txBox="1"/>
          <p:nvPr/>
        </p:nvSpPr>
        <p:spPr>
          <a:xfrm>
            <a:off x="6400800" y="19202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App Integrations</a:t>
            </a:r>
            <a:endParaRPr/>
          </a:p>
        </p:txBody>
      </p:sp>
      <p:sp>
        <p:nvSpPr>
          <p:cNvPr id="389" name="Google Shape;389;p20"/>
          <p:cNvSpPr/>
          <p:nvPr/>
        </p:nvSpPr>
        <p:spPr>
          <a:xfrm>
            <a:off x="9235440" y="137160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 txBox="1"/>
          <p:nvPr/>
        </p:nvSpPr>
        <p:spPr>
          <a:xfrm>
            <a:off x="9326880" y="141732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91" name="Google Shape;391;p20"/>
          <p:cNvSpPr txBox="1"/>
          <p:nvPr/>
        </p:nvSpPr>
        <p:spPr>
          <a:xfrm>
            <a:off x="9326880" y="19202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Search Modes</a:t>
            </a:r>
            <a:endParaRPr/>
          </a:p>
        </p:txBody>
      </p:sp>
      <p:sp>
        <p:nvSpPr>
          <p:cNvPr id="392" name="Google Shape;392;p20"/>
          <p:cNvSpPr/>
          <p:nvPr/>
        </p:nvSpPr>
        <p:spPr>
          <a:xfrm>
            <a:off x="457200" y="256032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548640" y="26060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4" name="Google Shape;394;p20"/>
          <p:cNvSpPr txBox="1"/>
          <p:nvPr/>
        </p:nvSpPr>
        <p:spPr>
          <a:xfrm>
            <a:off x="548640" y="3108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Rerankers</a:t>
            </a:r>
            <a:endParaRPr/>
          </a:p>
        </p:txBody>
      </p:sp>
      <p:sp>
        <p:nvSpPr>
          <p:cNvPr id="395" name="Google Shape;395;p20"/>
          <p:cNvSpPr/>
          <p:nvPr/>
        </p:nvSpPr>
        <p:spPr>
          <a:xfrm>
            <a:off x="3383280" y="256032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 txBox="1"/>
          <p:nvPr/>
        </p:nvSpPr>
        <p:spPr>
          <a:xfrm>
            <a:off x="3474720" y="26060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97" name="Google Shape;397;p20"/>
          <p:cNvSpPr txBox="1"/>
          <p:nvPr/>
        </p:nvSpPr>
        <p:spPr>
          <a:xfrm>
            <a:off x="3474720" y="3108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Memory Types</a:t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6309360" y="256032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 txBox="1"/>
          <p:nvPr/>
        </p:nvSpPr>
        <p:spPr>
          <a:xfrm>
            <a:off x="6400800" y="26060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16+</a:t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6400800" y="3108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AI Providers</a:t>
            </a:r>
            <a:endParaRPr/>
          </a:p>
        </p:txBody>
      </p:sp>
      <p:sp>
        <p:nvSpPr>
          <p:cNvPr id="401" name="Google Shape;401;p20"/>
          <p:cNvSpPr/>
          <p:nvPr/>
        </p:nvSpPr>
        <p:spPr>
          <a:xfrm>
            <a:off x="9235440" y="256032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 txBox="1"/>
          <p:nvPr/>
        </p:nvSpPr>
        <p:spPr>
          <a:xfrm>
            <a:off x="9326880" y="26060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03" name="Google Shape;403;p20"/>
          <p:cNvSpPr txBox="1"/>
          <p:nvPr/>
        </p:nvSpPr>
        <p:spPr>
          <a:xfrm>
            <a:off x="9326880" y="3108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Language SDKs</a:t>
            </a:r>
            <a:endParaRPr/>
          </a:p>
        </p:txBody>
      </p:sp>
      <p:sp>
        <p:nvSpPr>
          <p:cNvPr id="404" name="Google Shape;404;p20"/>
          <p:cNvSpPr/>
          <p:nvPr/>
        </p:nvSpPr>
        <p:spPr>
          <a:xfrm>
            <a:off x="457200" y="374904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548640" y="37947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406" name="Google Shape;406;p20"/>
          <p:cNvSpPr txBox="1"/>
          <p:nvPr/>
        </p:nvSpPr>
        <p:spPr>
          <a:xfrm>
            <a:off x="548640" y="42976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API Routers</a:t>
            </a:r>
            <a:endParaRPr/>
          </a:p>
        </p:txBody>
      </p:sp>
      <p:sp>
        <p:nvSpPr>
          <p:cNvPr id="407" name="Google Shape;407;p20"/>
          <p:cNvSpPr/>
          <p:nvPr/>
        </p:nvSpPr>
        <p:spPr>
          <a:xfrm>
            <a:off x="3383280" y="374904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0"/>
          <p:cNvSpPr txBox="1"/>
          <p:nvPr/>
        </p:nvSpPr>
        <p:spPr>
          <a:xfrm>
            <a:off x="3474720" y="37947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80+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3474720" y="42976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REST Endpoints</a:t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6309360" y="374904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 txBox="1"/>
          <p:nvPr/>
        </p:nvSpPr>
        <p:spPr>
          <a:xfrm>
            <a:off x="6400800" y="37947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6400800" y="42976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MCP Tools</a:t>
            </a:r>
            <a:endParaRPr/>
          </a:p>
        </p:txBody>
      </p:sp>
      <p:sp>
        <p:nvSpPr>
          <p:cNvPr id="413" name="Google Shape;413;p20"/>
          <p:cNvSpPr/>
          <p:nvPr/>
        </p:nvSpPr>
        <p:spPr>
          <a:xfrm>
            <a:off x="9235440" y="374904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9326880" y="37947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5" name="Google Shape;415;p20"/>
          <p:cNvSpPr txBox="1"/>
          <p:nvPr/>
        </p:nvSpPr>
        <p:spPr>
          <a:xfrm>
            <a:off x="9326880" y="42976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Entity Types</a:t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457200" y="493776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548640" y="498348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6+1</a:t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548640" y="54864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Classification Layers</a:t>
            </a: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3383280" y="493776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3474720" y="498348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21" name="Google Shape;421;p20"/>
          <p:cNvSpPr txBox="1"/>
          <p:nvPr/>
        </p:nvSpPr>
        <p:spPr>
          <a:xfrm>
            <a:off x="3474720" y="54864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Model Tiers</a:t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6309360" y="493776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6400800" y="498348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424" name="Google Shape;424;p20"/>
          <p:cNvSpPr txBox="1"/>
          <p:nvPr/>
        </p:nvSpPr>
        <p:spPr>
          <a:xfrm>
            <a:off x="6400800" y="54864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Docker Services</a:t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9235440" y="4937760"/>
            <a:ext cx="2651760" cy="10058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 txBox="1"/>
          <p:nvPr/>
        </p:nvSpPr>
        <p:spPr>
          <a:xfrm>
            <a:off x="9326880" y="498348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27" name="Google Shape;427;p20"/>
          <p:cNvSpPr txBox="1"/>
          <p:nvPr/>
        </p:nvSpPr>
        <p:spPr>
          <a:xfrm>
            <a:off x="9326880" y="54864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K8s Namespaces</a:t>
            </a:r>
            <a:endParaRPr/>
          </a:p>
        </p:txBody>
      </p:sp>
      <p:sp>
        <p:nvSpPr>
          <p:cNvPr id="428" name="Google Shape;428;p20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$0/month self-hosted  ·  60-80% cheaper than cloud  ·  ~30 second startup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Private AI System</a:t>
            </a:r>
            <a:endParaRPr/>
          </a:p>
        </p:txBody>
      </p:sp>
      <p:sp>
        <p:nvSpPr>
          <p:cNvPr id="434" name="Google Shape;434;p21"/>
          <p:cNvSpPr/>
          <p:nvPr/>
        </p:nvSpPr>
        <p:spPr>
          <a:xfrm>
            <a:off x="4572000" y="1554480"/>
            <a:ext cx="3047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2286000" y="201168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Ingest  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from 33 channel adapters and 300+ apps</a:t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2286000" y="237744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Enrich  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with 42 specialized AI agents across 60+ data types</a:t>
            </a:r>
            <a:endParaRPr/>
          </a:p>
        </p:txBody>
      </p:sp>
      <p:sp>
        <p:nvSpPr>
          <p:cNvPr id="437" name="Google Shape;437;p21"/>
          <p:cNvSpPr txBox="1"/>
          <p:nvPr/>
        </p:nvSpPr>
        <p:spPr>
          <a:xfrm>
            <a:off x="2286000" y="274320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Store  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with 10 memory types, versioning, TTL, and access control</a:t>
            </a:r>
            <a:endParaRPr/>
          </a:p>
        </p:txBody>
      </p:sp>
      <p:sp>
        <p:nvSpPr>
          <p:cNvPr id="438" name="Google Shape;438;p21"/>
          <p:cNvSpPr txBox="1"/>
          <p:nvPr/>
        </p:nvSpPr>
        <p:spPr>
          <a:xfrm>
            <a:off x="2286000" y="310896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Graph  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entities in a dual-layer temporal knowledge graph</a:t>
            </a:r>
            <a:endParaRPr/>
          </a:p>
        </p:txBody>
      </p:sp>
      <p:sp>
        <p:nvSpPr>
          <p:cNvPr id="439" name="Google Shape;439;p21"/>
          <p:cNvSpPr txBox="1"/>
          <p:nvPr/>
        </p:nvSpPr>
        <p:spPr>
          <a:xfrm>
            <a:off x="2286000" y="347472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Search  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with 5 modes, 4 rerankers, and temporal queries</a:t>
            </a:r>
            <a:endParaRPr/>
          </a:p>
        </p:txBody>
      </p:sp>
      <p:sp>
        <p:nvSpPr>
          <p:cNvPr id="440" name="Google Shape;440;p21"/>
          <p:cNvSpPr txBox="1"/>
          <p:nvPr/>
        </p:nvSpPr>
        <p:spPr>
          <a:xfrm>
            <a:off x="2286000" y="384048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Query  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with RAG chat and inline citations</a:t>
            </a:r>
            <a:endParaRPr/>
          </a:p>
        </p:txBody>
      </p:sp>
      <p:sp>
        <p:nvSpPr>
          <p:cNvPr id="441" name="Google Shape;441;p21"/>
          <p:cNvSpPr txBox="1"/>
          <p:nvPr/>
        </p:nvSpPr>
        <p:spPr>
          <a:xfrm>
            <a:off x="2286000" y="420624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Manage  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models, routing, agents, and infra from AI Studio</a:t>
            </a:r>
            <a:endParaRPr/>
          </a:p>
        </p:txBody>
      </p:sp>
      <p:sp>
        <p:nvSpPr>
          <p:cNvPr id="442" name="Google Shape;442;p21"/>
          <p:cNvSpPr txBox="1"/>
          <p:nvPr/>
        </p:nvSpPr>
        <p:spPr>
          <a:xfrm>
            <a:off x="2286000" y="457200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Connect  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via 5 SDKs, 8 MCP tools, and 80+ REST endpoints</a:t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2286000" y="4937760"/>
            <a:ext cx="758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Monitor  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US" sz="160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Open Telemetry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tracing and insights dashboards</a:t>
            </a:r>
            <a:endParaRPr/>
          </a:p>
        </p:txBody>
      </p:sp>
      <p:sp>
        <p:nvSpPr>
          <p:cNvPr id="444" name="Google Shape;444;p21"/>
          <p:cNvSpPr txBox="1"/>
          <p:nvPr/>
        </p:nvSpPr>
        <p:spPr>
          <a:xfrm>
            <a:off x="2286000" y="530352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Converse  </a:t>
            </a:r>
            <a:r>
              <a:rPr b="0" i="0" lang="en-US" sz="16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through DigiMe in 25+ messaging platforms</a:t>
            </a:r>
            <a:endParaRPr/>
          </a:p>
        </p:txBody>
      </p:sp>
      <p:sp>
        <p:nvSpPr>
          <p:cNvPr id="445" name="Google Shape;445;p21"/>
          <p:cNvSpPr txBox="1"/>
          <p:nvPr/>
        </p:nvSpPr>
        <p:spPr>
          <a:xfrm>
            <a:off x="1371600" y="57607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Your AI. Your hardware. Your rules.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