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6459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600" b="1">
                <a:solidFill>
                  <a:srgbClr val="FFFFFF"/>
                </a:solidFill>
                <a:latin typeface="Calibri"/>
              </a:defRPr>
            </a:pPr>
            <a:r>
              <a:t>Model Garden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0" y="2743200"/>
            <a:ext cx="3047695" cy="381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31089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0">
                <a:solidFill>
                  <a:srgbClr val="38BDF8"/>
                </a:solidFill>
                <a:latin typeface="Calibri"/>
              </a:defRPr>
            </a:pPr>
            <a:r>
              <a:t>How Mem-Dog Manages AI Providers, Routes Models, and Runs Inference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4754880"/>
            <a:ext cx="85340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A0AEC0"/>
                </a:solidFill>
                <a:latin typeface="Calibri"/>
              </a:defRPr>
            </a:pPr>
            <a:r>
              <a:t>16+ providers  ·  135+ models  ·  per-user config  ·  encrypted API keys</a:t>
            </a:r>
            <a:br/>
            <a:r>
              <a:t>5-tier smart routing  ·  3-level fallback chains  ·  K8s pod management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  <a:latin typeface="Calibri"/>
              </a:defRPr>
            </a:pPr>
            <a:r>
              <a:t>What is Model Garden?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234440"/>
            <a:ext cx="2286000" cy="381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A0AEC0"/>
                </a:solidFill>
                <a:latin typeface="Calibri"/>
              </a:defRPr>
            </a:pPr>
            <a:r>
              <a:t>A unified provider management system where each user configures their own AI providers with encrypted API keys. The system then automatically routes each data type to the best available model.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2926080"/>
            <a:ext cx="3200400" cy="29260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80160" y="320040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38BDF8"/>
                </a:solidFill>
                <a:latin typeface="Calibri"/>
              </a:defRPr>
            </a:pPr>
            <a:r>
              <a:t>Provider Layer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3840480"/>
            <a:ext cx="2468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0AEC0"/>
                </a:solidFill>
                <a:latin typeface="Calibri"/>
              </a:defRPr>
            </a:pPr>
            <a:r>
              <a:t>Connect 16+ AI providers.</a:t>
            </a:r>
            <a:br/>
            <a:r>
              <a:t>Encrypted API key storage.</a:t>
            </a:r>
            <a:br/>
            <a:r>
              <a:t>Test connectivity and</a:t>
            </a:r>
            <a:br/>
            <a:r>
              <a:t>discover available models.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80560" y="2926080"/>
            <a:ext cx="3200400" cy="29260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46320" y="320040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BBF24"/>
                </a:solidFill>
                <a:latin typeface="Calibri"/>
              </a:defRPr>
            </a:pPr>
            <a:r>
              <a:t>Routing Layer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46320" y="3840480"/>
            <a:ext cx="2468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0AEC0"/>
                </a:solidFill>
                <a:latin typeface="Calibri"/>
              </a:defRPr>
            </a:pPr>
            <a:r>
              <a:t>Map each of 42 data types</a:t>
            </a:r>
            <a:br/>
            <a:r>
              <a:t>to the best model.</a:t>
            </a:r>
            <a:br/>
            <a:r>
              <a:t>Primary + fallback chains.</a:t>
            </a:r>
            <a:br/>
            <a:r>
              <a:t>User overrides supported.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2926080"/>
            <a:ext cx="3200400" cy="29260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0" y="320040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34D399"/>
                </a:solidFill>
                <a:latin typeface="Calibri"/>
              </a:defRPr>
            </a:pPr>
            <a:r>
              <a:t>Inference Layer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0" y="3840480"/>
            <a:ext cx="2468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0AEC0"/>
                </a:solidFill>
                <a:latin typeface="Calibri"/>
              </a:defRPr>
            </a:pPr>
            <a:r>
              <a:t>Unified calls via LiteLLM.</a:t>
            </a:r>
            <a:br/>
            <a:r>
              <a:t>3-level fallback on failure.</a:t>
            </a:r>
            <a:br/>
            <a:r>
              <a:t>Token usage tracking.</a:t>
            </a:r>
            <a:br/>
            <a:r>
              <a:t>Per-user credential resolution.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  <a:latin typeface="Calibri"/>
              </a:defRPr>
            </a:pPr>
            <a:r>
              <a:t>16+ AI Providers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234440"/>
            <a:ext cx="2286000" cy="381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A0AEC0"/>
                </a:solidFill>
                <a:latin typeface="Calibri"/>
              </a:defRPr>
            </a:pPr>
            <a:r>
              <a:t>Users connect any combination of providers. Each connection is tested, models discovered, and API keys encrypted with Fernet AES-256.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914400" y="2377440"/>
          <a:ext cx="4846320" cy="3703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3160"/>
                <a:gridCol w="2423160"/>
              </a:tblGrid>
              <a:tr h="411480"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38BDF8"/>
                          </a:solidFill>
                          <a:latin typeface="Calibri"/>
                        </a:defRPr>
                      </a:pPr>
                      <a:r>
                        <a:t>Provider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38BDF8"/>
                          </a:solidFill>
                          <a:latin typeface="Calibri"/>
                        </a:defRPr>
                      </a:pPr>
                      <a:r>
                        <a:t>Type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Ollama (Local)</a:t>
                      </a:r>
                    </a:p>
                  </a:txBody>
                  <a:tcPr anchor="ctr">
                    <a:solidFill>
                      <a:srgbClr val="151F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Self-hosted, free</a:t>
                      </a:r>
                    </a:p>
                  </a:txBody>
                  <a:tcPr anchor="ctr">
                    <a:solidFill>
                      <a:srgbClr val="151F3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Ollama Cloud</a:t>
                      </a:r>
                    </a:p>
                  </a:txBody>
                  <a:tcPr anchor="ctr">
                    <a:solidFill>
                      <a:srgbClr val="1A25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Managed Ollama</a:t>
                      </a:r>
                    </a:p>
                  </a:txBody>
                  <a:tcPr anchor="ctr">
                    <a:solidFill>
                      <a:srgbClr val="1A253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Google Gemini</a:t>
                      </a:r>
                    </a:p>
                  </a:txBody>
                  <a:tcPr anchor="ctr">
                    <a:solidFill>
                      <a:srgbClr val="151F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Cloud API</a:t>
                      </a:r>
                    </a:p>
                  </a:txBody>
                  <a:tcPr anchor="ctr">
                    <a:solidFill>
                      <a:srgbClr val="151F3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OpenAI</a:t>
                      </a:r>
                    </a:p>
                  </a:txBody>
                  <a:tcPr anchor="ctr">
                    <a:solidFill>
                      <a:srgbClr val="1A25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Cloud API</a:t>
                      </a:r>
                    </a:p>
                  </a:txBody>
                  <a:tcPr anchor="ctr">
                    <a:solidFill>
                      <a:srgbClr val="1A253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Anthropic</a:t>
                      </a:r>
                    </a:p>
                  </a:txBody>
                  <a:tcPr anchor="ctr">
                    <a:solidFill>
                      <a:srgbClr val="151F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Cloud API</a:t>
                      </a:r>
                    </a:p>
                  </a:txBody>
                  <a:tcPr anchor="ctr">
                    <a:solidFill>
                      <a:srgbClr val="151F3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Groq</a:t>
                      </a:r>
                    </a:p>
                  </a:txBody>
                  <a:tcPr anchor="ctr">
                    <a:solidFill>
                      <a:srgbClr val="1A25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Ultra-fast inference</a:t>
                      </a:r>
                    </a:p>
                  </a:txBody>
                  <a:tcPr anchor="ctr">
                    <a:solidFill>
                      <a:srgbClr val="1A253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Mistral</a:t>
                      </a:r>
                    </a:p>
                  </a:txBody>
                  <a:tcPr anchor="ctr">
                    <a:solidFill>
                      <a:srgbClr val="151F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Cloud API</a:t>
                      </a:r>
                    </a:p>
                  </a:txBody>
                  <a:tcPr anchor="ctr">
                    <a:solidFill>
                      <a:srgbClr val="151F3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Cohere</a:t>
                      </a:r>
                    </a:p>
                  </a:txBody>
                  <a:tcPr anchor="ctr">
                    <a:solidFill>
                      <a:srgbClr val="1A25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Cloud API</a:t>
                      </a:r>
                    </a:p>
                  </a:txBody>
                  <a:tcPr anchor="ctr">
                    <a:solidFill>
                      <a:srgbClr val="1A2538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0" y="2377440"/>
          <a:ext cx="4876495" cy="3703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38247"/>
                <a:gridCol w="2438248"/>
              </a:tblGrid>
              <a:tr h="411480"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38BDF8"/>
                          </a:solidFill>
                          <a:latin typeface="Calibri"/>
                        </a:defRPr>
                      </a:pPr>
                      <a:r>
                        <a:t>Provider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38BDF8"/>
                          </a:solidFill>
                          <a:latin typeface="Calibri"/>
                        </a:defRPr>
                      </a:pPr>
                      <a:r>
                        <a:t>Type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DeepSeek</a:t>
                      </a:r>
                    </a:p>
                  </a:txBody>
                  <a:tcPr anchor="ctr">
                    <a:solidFill>
                      <a:srgbClr val="151F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Cloud API</a:t>
                      </a:r>
                    </a:p>
                  </a:txBody>
                  <a:tcPr anchor="ctr">
                    <a:solidFill>
                      <a:srgbClr val="151F3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xAI (Grok)</a:t>
                      </a:r>
                    </a:p>
                  </a:txBody>
                  <a:tcPr anchor="ctr">
                    <a:solidFill>
                      <a:srgbClr val="1A25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Cloud API</a:t>
                      </a:r>
                    </a:p>
                  </a:txBody>
                  <a:tcPr anchor="ctr">
                    <a:solidFill>
                      <a:srgbClr val="1A253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OpenRouter</a:t>
                      </a:r>
                    </a:p>
                  </a:txBody>
                  <a:tcPr anchor="ctr">
                    <a:solidFill>
                      <a:srgbClr val="151F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Aggregator (100+ models)</a:t>
                      </a:r>
                    </a:p>
                  </a:txBody>
                  <a:tcPr anchor="ctr">
                    <a:solidFill>
                      <a:srgbClr val="151F3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Together AI</a:t>
                      </a:r>
                    </a:p>
                  </a:txBody>
                  <a:tcPr anchor="ctr">
                    <a:solidFill>
                      <a:srgbClr val="1A25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Cloud hosting</a:t>
                      </a:r>
                    </a:p>
                  </a:txBody>
                  <a:tcPr anchor="ctr">
                    <a:solidFill>
                      <a:srgbClr val="1A253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HuggingFace</a:t>
                      </a:r>
                    </a:p>
                  </a:txBody>
                  <a:tcPr anchor="ctr">
                    <a:solidFill>
                      <a:srgbClr val="151F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Cloud / local</a:t>
                      </a:r>
                    </a:p>
                  </a:txBody>
                  <a:tcPr anchor="ctr">
                    <a:solidFill>
                      <a:srgbClr val="151F3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AWS Bedrock</a:t>
                      </a:r>
                    </a:p>
                  </a:txBody>
                  <a:tcPr anchor="ctr">
                    <a:solidFill>
                      <a:srgbClr val="1A25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Enterprise cloud</a:t>
                      </a:r>
                    </a:p>
                  </a:txBody>
                  <a:tcPr anchor="ctr">
                    <a:solidFill>
                      <a:srgbClr val="1A253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vLLM</a:t>
                      </a:r>
                    </a:p>
                  </a:txBody>
                  <a:tcPr anchor="ctr">
                    <a:solidFill>
                      <a:srgbClr val="151F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Self-hosted serving</a:t>
                      </a:r>
                    </a:p>
                  </a:txBody>
                  <a:tcPr anchor="ctr">
                    <a:solidFill>
                      <a:srgbClr val="151F3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LiteLLM Gateway</a:t>
                      </a:r>
                    </a:p>
                  </a:txBody>
                  <a:tcPr anchor="ctr">
                    <a:solidFill>
                      <a:srgbClr val="1A25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Unified proxy</a:t>
                      </a:r>
                    </a:p>
                  </a:txBody>
                  <a:tcPr anchor="ctr">
                    <a:solidFill>
                      <a:srgbClr val="1A253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  <a:latin typeface="Calibri"/>
              </a:defRPr>
            </a:pPr>
            <a:r>
              <a:t>Per-User Provider Configuration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234440"/>
            <a:ext cx="2286000" cy="381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A0AEC0"/>
                </a:solidFill>
                <a:latin typeface="Calibri"/>
              </a:defRPr>
            </a:pPr>
            <a:r>
              <a:t>Each user owns their provider connections. API keys are encrypted at rest and never returned in API responses — only a has_api_key boolean.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2560320"/>
            <a:ext cx="5029200" cy="34747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80160" y="2743200"/>
            <a:ext cx="4297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38BDF8"/>
                </a:solidFill>
                <a:latin typeface="Calibri"/>
              </a:defRPr>
            </a:pPr>
            <a:r>
              <a:t>What’s Stored Per Engine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3383280"/>
            <a:ext cx="4297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0AEC0"/>
                </a:solidFill>
                <a:latin typeface="Calibri"/>
              </a:defRPr>
            </a:pPr>
            <a:r>
              <a:t>•  Engine type (openai, gemini, ollama...)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3730752"/>
            <a:ext cx="4297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0AEC0"/>
                </a:solidFill>
                <a:latin typeface="Calibri"/>
              </a:defRPr>
            </a:pPr>
            <a:r>
              <a:t>•  Display name and base URL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4078224"/>
            <a:ext cx="4297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0AEC0"/>
                </a:solidFill>
                <a:latin typeface="Calibri"/>
              </a:defRPr>
            </a:pPr>
            <a:r>
              <a:t>•  API key (Fernet AES-256 encrypted)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4425696"/>
            <a:ext cx="4297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0AEC0"/>
                </a:solidFill>
                <a:latin typeface="Calibri"/>
              </a:defRPr>
            </a:pPr>
            <a:r>
              <a:t>•  Discovered models list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4773168"/>
            <a:ext cx="4297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0AEC0"/>
                </a:solidFill>
                <a:latin typeface="Calibri"/>
              </a:defRPr>
            </a:pPr>
            <a:r>
              <a:t>•  Available capabilities (embed, complete)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5120640"/>
            <a:ext cx="4297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0AEC0"/>
                </a:solidFill>
                <a:latin typeface="Calibri"/>
              </a:defRPr>
            </a:pPr>
            <a:r>
              <a:t>•  Last test status + latency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5468112"/>
            <a:ext cx="4297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0AEC0"/>
                </a:solidFill>
                <a:latin typeface="Calibri"/>
              </a:defRPr>
            </a:pPr>
            <a:r>
              <a:t>•  Enabled / disabled toggle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2560320"/>
            <a:ext cx="5029200" cy="34747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66560" y="2743200"/>
            <a:ext cx="4297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34D399"/>
                </a:solidFill>
                <a:latin typeface="Calibri"/>
              </a:defRPr>
            </a:pPr>
            <a:r>
              <a:t>What Users Can Do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66560" y="338328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8BDF8"/>
                </a:solidFill>
                <a:latin typeface="Calibri"/>
              </a:defRPr>
            </a:pPr>
            <a:r>
              <a:t>Add provider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66560" y="3611880"/>
            <a:ext cx="4297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0AEC0"/>
                </a:solidFill>
                <a:latin typeface="Calibri"/>
              </a:defRPr>
            </a:pPr>
            <a:r>
              <a:t>Connect with API key + base URL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66560" y="384048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8BDF8"/>
                </a:solidFill>
                <a:latin typeface="Calibri"/>
              </a:defRPr>
            </a:pPr>
            <a:r>
              <a:t>Test connection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66560" y="4069080"/>
            <a:ext cx="4297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0AEC0"/>
                </a:solidFill>
                <a:latin typeface="Calibri"/>
              </a:defRPr>
            </a:pPr>
            <a:r>
              <a:t>Verify reachability + latency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66560" y="429768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8BDF8"/>
                </a:solidFill>
                <a:latin typeface="Calibri"/>
              </a:defRPr>
            </a:pPr>
            <a:r>
              <a:t>Discover models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66560" y="4526280"/>
            <a:ext cx="4297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0AEC0"/>
                </a:solidFill>
                <a:latin typeface="Calibri"/>
              </a:defRPr>
            </a:pPr>
            <a:r>
              <a:t>Auto-fetch available model list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66560" y="475488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8BDF8"/>
                </a:solidFill>
                <a:latin typeface="Calibri"/>
              </a:defRPr>
            </a:pPr>
            <a:r>
              <a:t>Enable / disable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66560" y="4983480"/>
            <a:ext cx="4297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0AEC0"/>
                </a:solidFill>
                <a:latin typeface="Calibri"/>
              </a:defRPr>
            </a:pPr>
            <a:r>
              <a:t>Toggle providers on and off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66560" y="521208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8BDF8"/>
                </a:solidFill>
                <a:latin typeface="Calibri"/>
              </a:defRPr>
            </a:pPr>
            <a:r>
              <a:t>Override routing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66560" y="5440680"/>
            <a:ext cx="4297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0AEC0"/>
                </a:solidFill>
                <a:latin typeface="Calibri"/>
              </a:defRPr>
            </a:pPr>
            <a:r>
              <a:t>Pick specific models per data type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  <a:latin typeface="Calibri"/>
              </a:defRPr>
            </a:pPr>
            <a:r>
              <a:t>5-Tier Smart Routing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234440"/>
            <a:ext cx="2286000" cy="381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A0AEC0"/>
                </a:solidFill>
                <a:latin typeface="Calibri"/>
              </a:defRPr>
            </a:pPr>
            <a:r>
              <a:t>Each of the 42 agent types declares a minimum model tier. The routing system picks the smallest model that can handle the job.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914400" y="2468880"/>
          <a:ext cx="10362895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90723"/>
                <a:gridCol w="2590723"/>
                <a:gridCol w="2590723"/>
                <a:gridCol w="2590726"/>
              </a:tblGrid>
              <a:tr h="411480"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38BDF8"/>
                          </a:solidFill>
                          <a:latin typeface="Calibri"/>
                        </a:defRPr>
                      </a:pPr>
                      <a:r>
                        <a:t>Tier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38BDF8"/>
                          </a:solidFill>
                          <a:latin typeface="Calibri"/>
                        </a:defRPr>
                      </a:pPr>
                      <a:r>
                        <a:t>Default Model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38BDF8"/>
                          </a:solidFill>
                          <a:latin typeface="Calibri"/>
                        </a:defRPr>
                      </a:pPr>
                      <a:r>
                        <a:t>Used For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38BDF8"/>
                          </a:solidFill>
                          <a:latin typeface="Calibri"/>
                        </a:defRPr>
                      </a:pPr>
                      <a:r>
                        <a:t>Cost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Small</a:t>
                      </a:r>
                    </a:p>
                  </a:txBody>
                  <a:tcPr anchor="ctr">
                    <a:solidFill>
                      <a:srgbClr val="151F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Gemma3:4b</a:t>
                      </a:r>
                    </a:p>
                  </a:txBody>
                  <a:tcPr anchor="ctr">
                    <a:solidFill>
                      <a:srgbClr val="151F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JSON, CSV, YAML, XML, IoT, GPS, sensor data</a:t>
                      </a:r>
                    </a:p>
                  </a:txBody>
                  <a:tcPr anchor="ctr">
                    <a:solidFill>
                      <a:srgbClr val="151F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Free (local)</a:t>
                      </a:r>
                    </a:p>
                  </a:txBody>
                  <a:tcPr anchor="ctr">
                    <a:solidFill>
                      <a:srgbClr val="151F3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Medium</a:t>
                      </a:r>
                    </a:p>
                  </a:txBody>
                  <a:tcPr anchor="ctr">
                    <a:solidFill>
                      <a:srgbClr val="1A25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Gemma3:12b</a:t>
                      </a:r>
                    </a:p>
                  </a:txBody>
                  <a:tcPr anchor="ctr">
                    <a:solidFill>
                      <a:srgbClr val="1A25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Code, email, chat, financial, markdown</a:t>
                      </a:r>
                    </a:p>
                  </a:txBody>
                  <a:tcPr anchor="ctr">
                    <a:solidFill>
                      <a:srgbClr val="1A25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Free (local)</a:t>
                      </a:r>
                    </a:p>
                  </a:txBody>
                  <a:tcPr anchor="ctr">
                    <a:solidFill>
                      <a:srgbClr val="1A253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Large</a:t>
                      </a:r>
                    </a:p>
                  </a:txBody>
                  <a:tcPr anchor="ctr">
                    <a:solidFill>
                      <a:srgbClr val="151F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Gemma3:27b</a:t>
                      </a:r>
                    </a:p>
                  </a:txBody>
                  <a:tcPr anchor="ctr">
                    <a:solidFill>
                      <a:srgbClr val="151F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PDFs, Office docs, web pages, complex documents</a:t>
                      </a:r>
                    </a:p>
                  </a:txBody>
                  <a:tcPr anchor="ctr">
                    <a:solidFill>
                      <a:srgbClr val="151F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Free (local)</a:t>
                      </a:r>
                    </a:p>
                  </a:txBody>
                  <a:tcPr anchor="ctr">
                    <a:solidFill>
                      <a:srgbClr val="151F3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Multimodal</a:t>
                      </a:r>
                    </a:p>
                  </a:txBody>
                  <a:tcPr anchor="ctr">
                    <a:solidFill>
                      <a:srgbClr val="1A25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Qwen3-VL</a:t>
                      </a:r>
                    </a:p>
                  </a:txBody>
                  <a:tcPr anchor="ctr">
                    <a:solidFill>
                      <a:srgbClr val="1A25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Images, visual PDFs, screenshots, medical imaging</a:t>
                      </a:r>
                    </a:p>
                  </a:txBody>
                  <a:tcPr anchor="ctr">
                    <a:solidFill>
                      <a:srgbClr val="1A25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Free (local)</a:t>
                      </a:r>
                    </a:p>
                  </a:txBody>
                  <a:tcPr anchor="ctr">
                    <a:solidFill>
                      <a:srgbClr val="1A253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Omni</a:t>
                      </a:r>
                    </a:p>
                  </a:txBody>
                  <a:tcPr anchor="ctr">
                    <a:solidFill>
                      <a:srgbClr val="151F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Qwen3.5</a:t>
                      </a:r>
                    </a:p>
                  </a:txBody>
                  <a:tcPr anchor="ctr">
                    <a:solidFill>
                      <a:srgbClr val="151F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Audio, video, multi-format content</a:t>
                      </a:r>
                    </a:p>
                  </a:txBody>
                  <a:tcPr anchor="ctr">
                    <a:solidFill>
                      <a:srgbClr val="151F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Free (local)</a:t>
                      </a:r>
                    </a:p>
                  </a:txBody>
                  <a:tcPr anchor="ctr">
                    <a:solidFill>
                      <a:srgbClr val="151F32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914400" y="530352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34D399"/>
                </a:solidFill>
                <a:latin typeface="Calibri"/>
              </a:defRPr>
            </a:pPr>
            <a:r>
              <a:t>80% of data processes on the small tier (4b model). Only complex content like PDFs and images escalate to larger models.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  <a:latin typeface="Calibri"/>
              </a:defRPr>
            </a:pPr>
            <a:r>
              <a:t>Data Type → Model Mapping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234440"/>
            <a:ext cx="2286000" cy="381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A0AEC0"/>
                </a:solidFill>
                <a:latin typeface="Calibri"/>
              </a:defRPr>
            </a:pPr>
            <a:r>
              <a:t>39 data types are mapped to tiers based on complexity. Users can override any mapping from the Routing tab in AI Studio.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914400" y="2377440"/>
          <a:ext cx="484632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3160"/>
                <a:gridCol w="2423160"/>
              </a:tblGrid>
              <a:tr h="411480"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38BDF8"/>
                          </a:solidFill>
                          <a:latin typeface="Calibri"/>
                        </a:defRPr>
                      </a:pPr>
                      <a:r>
                        <a:t>Data Type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38BDF8"/>
                          </a:solidFill>
                          <a:latin typeface="Calibri"/>
                        </a:defRPr>
                      </a:pPr>
                      <a:r>
                        <a:t>Tier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json, csv, yaml, xml</a:t>
                      </a:r>
                    </a:p>
                  </a:txBody>
                  <a:tcPr anchor="ctr">
                    <a:solidFill>
                      <a:srgbClr val="151F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Small</a:t>
                      </a:r>
                    </a:p>
                  </a:txBody>
                  <a:tcPr anchor="ctr">
                    <a:solidFill>
                      <a:srgbClr val="151F3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sensor, gps, iot_sensor</a:t>
                      </a:r>
                    </a:p>
                  </a:txBody>
                  <a:tcPr anchor="ctr">
                    <a:solidFill>
                      <a:srgbClr val="1A25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Small</a:t>
                      </a:r>
                    </a:p>
                  </a:txBody>
                  <a:tcPr anchor="ctr">
                    <a:solidFill>
                      <a:srgbClr val="1A253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biometric, time_series</a:t>
                      </a:r>
                    </a:p>
                  </a:txBody>
                  <a:tcPr anchor="ctr">
                    <a:solidFill>
                      <a:srgbClr val="151F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Small</a:t>
                      </a:r>
                    </a:p>
                  </a:txBody>
                  <a:tcPr anchor="ctr">
                    <a:solidFill>
                      <a:srgbClr val="151F3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code, log_file, log_stream</a:t>
                      </a:r>
                    </a:p>
                  </a:txBody>
                  <a:tcPr anchor="ctr">
                    <a:solidFill>
                      <a:srgbClr val="1A25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Medium</a:t>
                      </a:r>
                    </a:p>
                  </a:txBody>
                  <a:tcPr anchor="ctr">
                    <a:solidFill>
                      <a:srgbClr val="1A253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email, chat, feed</a:t>
                      </a:r>
                    </a:p>
                  </a:txBody>
                  <a:tcPr anchor="ctr">
                    <a:solidFill>
                      <a:srgbClr val="151F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Medium</a:t>
                      </a:r>
                    </a:p>
                  </a:txBody>
                  <a:tcPr anchor="ctr">
                    <a:solidFill>
                      <a:srgbClr val="151F3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markdown, calendar</a:t>
                      </a:r>
                    </a:p>
                  </a:txBody>
                  <a:tcPr anchor="ctr">
                    <a:solidFill>
                      <a:srgbClr val="1A25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Medium</a:t>
                      </a:r>
                    </a:p>
                  </a:txBody>
                  <a:tcPr anchor="ctr">
                    <a:solidFill>
                      <a:srgbClr val="1A253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financial, channel_message</a:t>
                      </a:r>
                    </a:p>
                  </a:txBody>
                  <a:tcPr anchor="ctr">
                    <a:solidFill>
                      <a:srgbClr val="151F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Medium</a:t>
                      </a:r>
                    </a:p>
                  </a:txBody>
                  <a:tcPr anchor="ctr">
                    <a:solidFill>
                      <a:srgbClr val="151F32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0" y="2377440"/>
          <a:ext cx="4876495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38247"/>
                <a:gridCol w="2438248"/>
              </a:tblGrid>
              <a:tr h="411480"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38BDF8"/>
                          </a:solidFill>
                          <a:latin typeface="Calibri"/>
                        </a:defRPr>
                      </a:pPr>
                      <a:r>
                        <a:t>Data Type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38BDF8"/>
                          </a:solidFill>
                          <a:latin typeface="Calibri"/>
                        </a:defRPr>
                      </a:pPr>
                      <a:r>
                        <a:t>Tier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pdf, office_doc, html_doc</a:t>
                      </a:r>
                    </a:p>
                  </a:txBody>
                  <a:tcPr anchor="ctr">
                    <a:solidFill>
                      <a:srgbClr val="151F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Large</a:t>
                      </a:r>
                    </a:p>
                  </a:txBody>
                  <a:tcPr anchor="ctr">
                    <a:solidFill>
                      <a:srgbClr val="151F3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web_page, archive</a:t>
                      </a:r>
                    </a:p>
                  </a:txBody>
                  <a:tcPr anchor="ctr">
                    <a:solidFill>
                      <a:srgbClr val="1A25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Large</a:t>
                      </a:r>
                    </a:p>
                  </a:txBody>
                  <a:tcPr anchor="ctr">
                    <a:solidFill>
                      <a:srgbClr val="1A253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geospatial, lidar, model_3d</a:t>
                      </a:r>
                    </a:p>
                  </a:txBody>
                  <a:tcPr anchor="ctr">
                    <a:solidFill>
                      <a:srgbClr val="151F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Large</a:t>
                      </a:r>
                    </a:p>
                  </a:txBody>
                  <a:tcPr anchor="ctr">
                    <a:solidFill>
                      <a:srgbClr val="151F3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scientific, infrastructure</a:t>
                      </a:r>
                    </a:p>
                  </a:txBody>
                  <a:tcPr anchor="ctr">
                    <a:solidFill>
                      <a:srgbClr val="1A25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Large</a:t>
                      </a:r>
                    </a:p>
                  </a:txBody>
                  <a:tcPr anchor="ctr">
                    <a:solidFill>
                      <a:srgbClr val="1A253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image, image_batch</a:t>
                      </a:r>
                    </a:p>
                  </a:txBody>
                  <a:tcPr anchor="ctr">
                    <a:solidFill>
                      <a:srgbClr val="151F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Multimodal</a:t>
                      </a:r>
                    </a:p>
                  </a:txBody>
                  <a:tcPr anchor="ctr">
                    <a:solidFill>
                      <a:srgbClr val="151F3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medical_imaging</a:t>
                      </a:r>
                    </a:p>
                  </a:txBody>
                  <a:tcPr anchor="ctr">
                    <a:solidFill>
                      <a:srgbClr val="1A25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Multimodal</a:t>
                      </a:r>
                    </a:p>
                  </a:txBody>
                  <a:tcPr anchor="ctr">
                    <a:solidFill>
                      <a:srgbClr val="1A253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video_url, audio_stream</a:t>
                      </a:r>
                    </a:p>
                  </a:txBody>
                  <a:tcPr anchor="ctr">
                    <a:solidFill>
                      <a:srgbClr val="151F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Omni</a:t>
                      </a:r>
                    </a:p>
                  </a:txBody>
                  <a:tcPr anchor="ctr">
                    <a:solidFill>
                      <a:srgbClr val="151F32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914400" y="5486400"/>
            <a:ext cx="10362895" cy="82296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80160" y="562356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A0AEC0"/>
                </a:solidFill>
                <a:latin typeface="Calibri"/>
              </a:defRPr>
            </a:pPr>
            <a:r>
              <a:t>Override example:  User sets pdf → openai/gpt-4o instead of Gemma3:27b. The system uses their OpenAI key for PDFs, keeps defaults for everything else.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  <a:latin typeface="Calibri"/>
              </a:defRPr>
            </a:pPr>
            <a:r>
              <a:t>3-Level Fallback Chains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234440"/>
            <a:ext cx="2286000" cy="381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A0AEC0"/>
                </a:solidFill>
                <a:latin typeface="Calibri"/>
              </a:defRPr>
            </a:pPr>
            <a:r>
              <a:t>If a model is unavailable, the system gracefully falls back. Fallbacks apply at the model, credential, and infrastructure levels.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468880"/>
            <a:ext cx="3566160" cy="36576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65176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38BDF8"/>
                </a:solidFill>
                <a:latin typeface="Calibri"/>
              </a:defRPr>
            </a:pPr>
            <a:r>
              <a:t>Model Fallback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10896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  <a:r>
              <a:t>When the primary model fails: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65760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0AEC0"/>
                </a:solidFill>
                <a:latin typeface="Calibri"/>
              </a:defRPr>
            </a:pPr>
            <a:r>
              <a:t>1.  Try primary model (e.g. ollama/gemma3:12b)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06908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0AEC0"/>
                </a:solidFill>
                <a:latin typeface="Calibri"/>
              </a:defRPr>
            </a:pPr>
            <a:r>
              <a:t>2.  Try fallback model (e.g. gemini/gemini-2.5-flash)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48056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0AEC0"/>
                </a:solidFill>
                <a:latin typeface="Calibri"/>
              </a:defRPr>
            </a:pPr>
            <a:r>
              <a:t>3.  Try self-hosted model server (in-cluster)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89204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0AEC0"/>
                </a:solidFill>
                <a:latin typeface="Calibri"/>
              </a:defRPr>
            </a:pPr>
            <a:r>
              <a:t>4.  Raise error if all unavailable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80560" y="2468880"/>
            <a:ext cx="3566160" cy="36576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54880" y="265176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34D399"/>
                </a:solidFill>
                <a:latin typeface="Calibri"/>
              </a:defRPr>
            </a:pPr>
            <a:r>
              <a:t>Credential Fallback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0" y="310896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  <a:r>
              <a:t>When resolving API keys: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0" y="365760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0AEC0"/>
                </a:solidFill>
                <a:latin typeface="Calibri"/>
              </a:defRPr>
            </a:pPr>
            <a:r>
              <a:t>1.  Check user-configured engine credentials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0" y="406908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0AEC0"/>
                </a:solidFill>
                <a:latin typeface="Calibri"/>
              </a:defRPr>
            </a:pPr>
            <a:r>
              <a:t>2.  Check environment variable (OLLAMA_CLOUD_API_KEY)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54880" y="448056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0AEC0"/>
                </a:solidFill>
                <a:latin typeface="Calibri"/>
              </a:defRPr>
            </a:pPr>
            <a:r>
              <a:t>3.  Proceed without auth (local/public endpoints)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321040" y="2468880"/>
            <a:ext cx="3566160" cy="36576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95360" y="265176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BBF24"/>
                </a:solidFill>
                <a:latin typeface="Calibri"/>
              </a:defRPr>
            </a:pPr>
            <a:r>
              <a:t>Infrastructure Fallback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95360" y="310896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  <a:r>
              <a:t>When choosing model server URLs: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95360" y="365760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0AEC0"/>
                </a:solidFill>
                <a:latin typeface="Calibri"/>
              </a:defRPr>
            </a:pPr>
            <a:r>
              <a:t>1.  Try tier-specific URL (MODEL_SERVER_URL_MEDIUM)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95360" y="406908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0AEC0"/>
                </a:solidFill>
                <a:latin typeface="Calibri"/>
              </a:defRPr>
            </a:pPr>
            <a:r>
              <a:t>2.  Try adjacent tier URLs (small → large)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95360" y="448056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0AEC0"/>
                </a:solidFill>
                <a:latin typeface="Calibri"/>
              </a:defRPr>
            </a:pPr>
            <a:r>
              <a:t>3.  Fall back to LiteLLM cloud call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  <a:latin typeface="Calibri"/>
              </a:defRPr>
            </a:pPr>
            <a:r>
              <a:t>LiteLLM: One Interface, All Providers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234440"/>
            <a:ext cx="2286000" cy="381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A0AEC0"/>
                </a:solidFill>
                <a:latin typeface="Calibri"/>
              </a:defRPr>
            </a:pPr>
            <a:r>
              <a:t>All 16+ providers are called through a single LiteLLM interface. The model prefix determines which provider handles the request.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914400" y="2468880"/>
          <a:ext cx="5029200" cy="3703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14600"/>
                <a:gridCol w="2514600"/>
              </a:tblGrid>
              <a:tr h="411480"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38BDF8"/>
                          </a:solidFill>
                          <a:latin typeface="Calibri"/>
                        </a:defRPr>
                      </a:pPr>
                      <a:r>
                        <a:t>Prefix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38BDF8"/>
                          </a:solidFill>
                          <a:latin typeface="Calibri"/>
                        </a:defRPr>
                      </a:pPr>
                      <a:r>
                        <a:t>Routes To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ollama/</a:t>
                      </a:r>
                    </a:p>
                  </a:txBody>
                  <a:tcPr anchor="ctr">
                    <a:solidFill>
                      <a:srgbClr val="151F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Local or Cloud Ollama</a:t>
                      </a:r>
                    </a:p>
                  </a:txBody>
                  <a:tcPr anchor="ctr">
                    <a:solidFill>
                      <a:srgbClr val="151F3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gemini/</a:t>
                      </a:r>
                    </a:p>
                  </a:txBody>
                  <a:tcPr anchor="ctr">
                    <a:solidFill>
                      <a:srgbClr val="1A25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Google Gemini API</a:t>
                      </a:r>
                    </a:p>
                  </a:txBody>
                  <a:tcPr anchor="ctr">
                    <a:solidFill>
                      <a:srgbClr val="1A253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openai/</a:t>
                      </a:r>
                    </a:p>
                  </a:txBody>
                  <a:tcPr anchor="ctr">
                    <a:solidFill>
                      <a:srgbClr val="151F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OpenAI API</a:t>
                      </a:r>
                    </a:p>
                  </a:txBody>
                  <a:tcPr anchor="ctr">
                    <a:solidFill>
                      <a:srgbClr val="151F3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anthropic/</a:t>
                      </a:r>
                    </a:p>
                  </a:txBody>
                  <a:tcPr anchor="ctr">
                    <a:solidFill>
                      <a:srgbClr val="1A25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Anthropic API</a:t>
                      </a:r>
                    </a:p>
                  </a:txBody>
                  <a:tcPr anchor="ctr">
                    <a:solidFill>
                      <a:srgbClr val="1A253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openrouter/</a:t>
                      </a:r>
                    </a:p>
                  </a:txBody>
                  <a:tcPr anchor="ctr">
                    <a:solidFill>
                      <a:srgbClr val="151F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OpenRouter gateway</a:t>
                      </a:r>
                    </a:p>
                  </a:txBody>
                  <a:tcPr anchor="ctr">
                    <a:solidFill>
                      <a:srgbClr val="151F3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together_ai/</a:t>
                      </a:r>
                    </a:p>
                  </a:txBody>
                  <a:tcPr anchor="ctr">
                    <a:solidFill>
                      <a:srgbClr val="1A25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Together AI</a:t>
                      </a:r>
                    </a:p>
                  </a:txBody>
                  <a:tcPr anchor="ctr">
                    <a:solidFill>
                      <a:srgbClr val="1A253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huggingface/</a:t>
                      </a:r>
                    </a:p>
                  </a:txBody>
                  <a:tcPr anchor="ctr">
                    <a:solidFill>
                      <a:srgbClr val="151F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HuggingFace Inference</a:t>
                      </a:r>
                    </a:p>
                  </a:txBody>
                  <a:tcPr anchor="ctr">
                    <a:solidFill>
                      <a:srgbClr val="151F3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bedrock/</a:t>
                      </a:r>
                    </a:p>
                  </a:txBody>
                  <a:tcPr anchor="ctr">
                    <a:solidFill>
                      <a:srgbClr val="1A25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AWS Bedrock</a:t>
                      </a:r>
                    </a:p>
                  </a:txBody>
                  <a:tcPr anchor="ctr">
                    <a:solidFill>
                      <a:srgbClr val="1A2538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6400800" y="2468880"/>
            <a:ext cx="5029200" cy="32004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0" y="2651760"/>
            <a:ext cx="4297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38BDF8"/>
                </a:solidFill>
                <a:latin typeface="Calibri"/>
              </a:defRPr>
            </a:pPr>
            <a:r>
              <a:t>How It Works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66560" y="3291840"/>
            <a:ext cx="4297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  <a:r>
              <a:t>1.  Agent calls chat_for_data_type(agent_type="pdf")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6560" y="3611880"/>
            <a:ext cx="4297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  <a:r>
              <a:t>2.  Fetch routing config → primary: ollama/gemma3:27b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66560" y="3931920"/>
            <a:ext cx="4297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  <a:r>
              <a:t>3.  Resolve credentials (user engine or env var)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66560" y="4251960"/>
            <a:ext cx="4297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4D399"/>
                </a:solidFill>
                <a:latin typeface="Calibri"/>
              </a:defRPr>
            </a:pPr>
            <a:r>
              <a:t>4.  Call litellm.completion(model="ollama/gemma3:27b")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0" y="4572000"/>
            <a:ext cx="4297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4D399"/>
                </a:solidFill>
                <a:latin typeface="Calibri"/>
              </a:defRPr>
            </a:pPr>
            <a:r>
              <a:t>5.  LiteLLM routes to Ollama Cloud API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66560" y="4892040"/>
            <a:ext cx="4297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  <a:r>
              <a:t>6.  Track token usage (prompt + completion)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66560" y="5212080"/>
            <a:ext cx="4297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  <a:r>
              <a:t>7.  Return generated text to agent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  <a:latin typeface="Calibri"/>
              </a:defRPr>
            </a:pPr>
            <a:r>
              <a:t>API Key Security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234440"/>
            <a:ext cx="2286000" cy="381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A0AEC0"/>
                </a:solidFill>
                <a:latin typeface="Calibri"/>
              </a:defRPr>
            </a:pPr>
            <a:r>
              <a:t>Provider API keys are encrypted at rest using Fernet (AES-256). Keys are never exposed in API responses or logs.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2560320"/>
            <a:ext cx="5029200" cy="32004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80160" y="2743200"/>
            <a:ext cx="4297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38BDF8"/>
                </a:solidFill>
                <a:latin typeface="Calibri"/>
              </a:defRPr>
            </a:pPr>
            <a:r>
              <a:t>Encryption Flow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3383280"/>
            <a:ext cx="4297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Calibri"/>
              </a:defRPr>
            </a:pPr>
            <a:r>
              <a:t>1.  User submits API key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3794760"/>
            <a:ext cx="4297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4D399"/>
                </a:solidFill>
                <a:latin typeface="Calibri"/>
              </a:defRPr>
            </a:pPr>
            <a:r>
              <a:t>2.  encrypt_api_key() → Fernet AES-256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4206240"/>
            <a:ext cx="4297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Calibri"/>
              </a:defRPr>
            </a:pPr>
            <a:r>
              <a:t>3.  Store encrypted blob in engine config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4617720"/>
            <a:ext cx="4297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BBF24"/>
                </a:solidFill>
                <a:latin typeface="Calibri"/>
              </a:defRPr>
            </a:pPr>
            <a:r>
              <a:t>4.  API returns has_api_key: true (never the key)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5029200"/>
            <a:ext cx="4297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Calibri"/>
              </a:defRPr>
            </a:pPr>
            <a:r>
              <a:t>5.  Decryption only for: test, discover, inference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2560320"/>
            <a:ext cx="5029200" cy="32004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0" y="2743200"/>
            <a:ext cx="4297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34D399"/>
                </a:solidFill>
                <a:latin typeface="Calibri"/>
              </a:defRPr>
            </a:pPr>
            <a:r>
              <a:t>Security Guarantees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66560" y="3383280"/>
            <a:ext cx="4297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A0AEC0"/>
                </a:solidFill>
                <a:latin typeface="Calibri"/>
              </a:defRPr>
            </a:pPr>
            <a:r>
              <a:t>•  Master key from MASTER_ENCRYPTION_KEY env var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66560" y="3794760"/>
            <a:ext cx="4297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A0AEC0"/>
                </a:solidFill>
                <a:latin typeface="Calibri"/>
              </a:defRPr>
            </a:pPr>
            <a:r>
              <a:t>•  Fernet provides authenticated encryption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66560" y="4206240"/>
            <a:ext cx="4297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A0AEC0"/>
                </a:solidFill>
                <a:latin typeface="Calibri"/>
              </a:defRPr>
            </a:pPr>
            <a:r>
              <a:t>•  API responses only show has_api_key boolean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66560" y="4617720"/>
            <a:ext cx="4297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A0AEC0"/>
                </a:solidFill>
                <a:latin typeface="Calibri"/>
              </a:defRPr>
            </a:pPr>
            <a:r>
              <a:t>•  Decryption happens server-side, never client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66560" y="5029200"/>
            <a:ext cx="4297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A0AEC0"/>
                </a:solidFill>
                <a:latin typeface="Calibri"/>
              </a:defRPr>
            </a:pPr>
            <a:r>
              <a:t>•  If encryption unavailable, warning logged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  <a:latin typeface="Calibri"/>
              </a:defRPr>
            </a:pPr>
            <a:r>
              <a:t>K8s Pod Management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234440"/>
            <a:ext cx="2286000" cy="381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A0AEC0"/>
                </a:solidFill>
                <a:latin typeface="Calibri"/>
              </a:defRPr>
            </a:pPr>
            <a:r>
              <a:t>Create, scale, and manage Ollama model deployments directly from the AI Studio Infrastructure tab. No kubectl needed.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2560320"/>
            <a:ext cx="5029200" cy="32004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80160" y="2743200"/>
            <a:ext cx="4297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38BDF8"/>
                </a:solidFill>
                <a:latin typeface="Calibri"/>
              </a:defRPr>
            </a:pPr>
            <a:r>
              <a:t>What You Can 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3383280"/>
            <a:ext cx="4297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38BDF8"/>
                </a:solidFill>
                <a:latin typeface="Calibri"/>
              </a:defRPr>
            </a:pPr>
            <a:r>
              <a:t>Create pods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3639312"/>
            <a:ext cx="4297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0AEC0"/>
                </a:solidFill>
                <a:latin typeface="Calibri"/>
              </a:defRPr>
            </a:pPr>
            <a:r>
              <a:t>Name, tier (small/medium/large), models to preload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3931920"/>
            <a:ext cx="4297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38BDF8"/>
                </a:solidFill>
                <a:latin typeface="Calibri"/>
              </a:defRPr>
            </a:pPr>
            <a:r>
              <a:t>Scale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4187952"/>
            <a:ext cx="4297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0AEC0"/>
                </a:solidFill>
                <a:latin typeface="Calibri"/>
              </a:defRPr>
            </a:pPr>
            <a:r>
              <a:t>0 to 3 replicas with one click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4480560"/>
            <a:ext cx="4297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38BDF8"/>
                </a:solidFill>
                <a:latin typeface="Calibri"/>
              </a:defRPr>
            </a:pPr>
            <a:r>
              <a:t>Monitor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4736592"/>
            <a:ext cx="4297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0AEC0"/>
                </a:solidFill>
                <a:latin typeface="Calibri"/>
              </a:defRPr>
            </a:pPr>
            <a:r>
              <a:t>Status badges, CPU/memory metrics, logs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5029200"/>
            <a:ext cx="4297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38BDF8"/>
                </a:solidFill>
                <a:latin typeface="Calibri"/>
              </a:defRPr>
            </a:pPr>
            <a:r>
              <a:t>Delete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5285232"/>
            <a:ext cx="4297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0AEC0"/>
                </a:solidFill>
                <a:latin typeface="Calibri"/>
              </a:defRPr>
            </a:pPr>
            <a:r>
              <a:t>Remove managed deployments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0" y="2560320"/>
            <a:ext cx="5029200" cy="32004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66560" y="2743200"/>
            <a:ext cx="4297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34D399"/>
                </a:solidFill>
                <a:latin typeface="Calibri"/>
              </a:defRPr>
            </a:pPr>
            <a:r>
              <a:t>How It Works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66560" y="3383280"/>
            <a:ext cx="4297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0AEC0"/>
                </a:solidFill>
                <a:latin typeface="Calibri"/>
              </a:defRPr>
            </a:pPr>
            <a:r>
              <a:t>•  Managed pods prefixed mdl- and labeled</a:t>
            </a:r>
            <a:br/>
            <a:r>
              <a:t>mem-dog/managed-model=true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66560" y="3931920"/>
            <a:ext cx="4297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0AEC0"/>
                </a:solidFill>
                <a:latin typeface="Calibri"/>
              </a:defRPr>
            </a:pPr>
            <a:r>
              <a:t>•  K8s RBAC restricts to webhook-pipeline</a:t>
            </a:r>
            <a:br/>
            <a:r>
              <a:t>namespace only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66560" y="4480560"/>
            <a:ext cx="4297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0AEC0"/>
                </a:solidFill>
                <a:latin typeface="Calibri"/>
              </a:defRPr>
            </a:pPr>
            <a:r>
              <a:t>•  Pre-existing pods show as "infrastructure"</a:t>
            </a:r>
            <a:br/>
            <a:r>
              <a:t>(read-only, visible for monitoring)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66560" y="5029200"/>
            <a:ext cx="4297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0AEC0"/>
                </a:solidFill>
                <a:latin typeface="Calibri"/>
              </a:defRPr>
            </a:pPr>
            <a:r>
              <a:t>•  Metrics via K8s metrics API</a:t>
            </a:r>
            <a:br/>
            <a:r>
              <a:t>(CPU %, memory usage)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  <a:latin typeface="Calibri"/>
              </a:defRPr>
            </a:pPr>
            <a:r>
              <a:t>Per-Agent Configuration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234440"/>
            <a:ext cx="2286000" cy="381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A0AEC0"/>
                </a:solidFill>
                <a:latin typeface="Calibri"/>
              </a:defRPr>
            </a:pPr>
            <a:r>
              <a:t>Beyond model routing, each of the 42 agent types can be customized with custom prompts, output schemas, and processing flags.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914400" y="2468880"/>
          <a:ext cx="10362895" cy="2880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54298"/>
                <a:gridCol w="3454298"/>
                <a:gridCol w="3454299"/>
              </a:tblGrid>
              <a:tr h="411480"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38BDF8"/>
                          </a:solidFill>
                          <a:latin typeface="Calibri"/>
                        </a:defRPr>
                      </a:pPr>
                      <a:r>
                        <a:t>Config Field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38BDF8"/>
                          </a:solidFill>
                          <a:latin typeface="Calibri"/>
                        </a:defRPr>
                      </a:pPr>
                      <a:r>
                        <a:t>What It Controls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38BDF8"/>
                          </a:solidFill>
                          <a:latin typeface="Calibri"/>
                        </a:defRPr>
                      </a:pPr>
                      <a:r>
                        <a:t>Example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system_prompt</a:t>
                      </a:r>
                    </a:p>
                  </a:txBody>
                  <a:tcPr anchor="ctr">
                    <a:solidFill>
                      <a:srgbClr val="151F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Custom instructions for the LLM</a:t>
                      </a:r>
                    </a:p>
                  </a:txBody>
                  <a:tcPr anchor="ctr">
                    <a:solidFill>
                      <a:srgbClr val="151F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"Extract only financial entities"</a:t>
                      </a:r>
                    </a:p>
                  </a:txBody>
                  <a:tcPr anchor="ctr">
                    <a:solidFill>
                      <a:srgbClr val="151F3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output_schema</a:t>
                      </a:r>
                    </a:p>
                  </a:txBody>
                  <a:tcPr anchor="ctr">
                    <a:solidFill>
                      <a:srgbClr val="1A25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Override the output format</a:t>
                      </a:r>
                    </a:p>
                  </a:txBody>
                  <a:tcPr anchor="ctr">
                    <a:solidFill>
                      <a:srgbClr val="1A25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Custom JSON schema for viewpoints</a:t>
                      </a:r>
                    </a:p>
                  </a:txBody>
                  <a:tcPr anchor="ctr">
                    <a:solidFill>
                      <a:srgbClr val="1A253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model_tier</a:t>
                      </a:r>
                    </a:p>
                  </a:txBody>
                  <a:tcPr anchor="ctr">
                    <a:solidFill>
                      <a:srgbClr val="151F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Force a specific tier</a:t>
                      </a:r>
                    </a:p>
                  </a:txBody>
                  <a:tcPr anchor="ctr">
                    <a:solidFill>
                      <a:srgbClr val="151F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Set pdf agent to "medium" instead of "large"</a:t>
                      </a:r>
                    </a:p>
                  </a:txBody>
                  <a:tcPr anchor="ctr">
                    <a:solidFill>
                      <a:srgbClr val="151F3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skills</a:t>
                      </a:r>
                    </a:p>
                  </a:txBody>
                  <a:tcPr anchor="ctr">
                    <a:solidFill>
                      <a:srgbClr val="1A25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Attach post-processing skills</a:t>
                      </a:r>
                    </a:p>
                  </a:txBody>
                  <a:tcPr anchor="ctr">
                    <a:solidFill>
                      <a:srgbClr val="1A25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Run sentiment analysis after classification</a:t>
                      </a:r>
                    </a:p>
                  </a:txBody>
                  <a:tcPr anchor="ctr">
                    <a:solidFill>
                      <a:srgbClr val="1A253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parameters</a:t>
                      </a:r>
                    </a:p>
                  </a:txBody>
                  <a:tcPr anchor="ctr">
                    <a:solidFill>
                      <a:srgbClr val="151F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Extra inference params</a:t>
                      </a:r>
                    </a:p>
                  </a:txBody>
                  <a:tcPr anchor="ctr">
                    <a:solidFill>
                      <a:srgbClr val="151F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temperature: 0.1, max_tokens: 512</a:t>
                      </a:r>
                    </a:p>
                  </a:txBody>
                  <a:tcPr anchor="ctr">
                    <a:solidFill>
                      <a:srgbClr val="151F3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enabled / disabled</a:t>
                      </a:r>
                    </a:p>
                  </a:txBody>
                  <a:tcPr anchor="ctr">
                    <a:solidFill>
                      <a:srgbClr val="1A25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Turn AI processing on/off per type</a:t>
                      </a:r>
                    </a:p>
                  </a:txBody>
                  <a:tcPr anchor="ctr">
                    <a:solidFill>
                      <a:srgbClr val="1A25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Disable enrichment for CSV files</a:t>
                      </a:r>
                    </a:p>
                  </a:txBody>
                  <a:tcPr anchor="ctr">
                    <a:solidFill>
                      <a:srgbClr val="1A2538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914400" y="5303520"/>
            <a:ext cx="103628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A0AEC0"/>
                </a:solidFill>
                <a:latin typeface="Calibri"/>
              </a:defRPr>
            </a:pPr>
            <a:r>
              <a:t>Configs can be set per-user or as system defaults. User configs take priority via the resolve endpoint.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  <a:latin typeface="Calibri"/>
              </a:defRPr>
            </a:pPr>
            <a:r>
              <a:t>End-to-End: PDF Arrives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234440"/>
            <a:ext cx="2286000" cy="381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A0AEC0"/>
                </a:solidFill>
                <a:latin typeface="Calibri"/>
              </a:defRPr>
            </a:pPr>
            <a:r>
              <a:t>How Model Garden, Smart Routing, and Fallback Chains work together.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2377440"/>
            <a:ext cx="10362895" cy="38404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108960" y="2651760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Calibri"/>
              </a:defRPr>
            </a:pPr>
            <a:r>
              <a:t>1.  A PDF is ingested via POST /api/v1/data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299008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818CF8"/>
                </a:solidFill>
                <a:latin typeface="Calibri"/>
              </a:defRPr>
            </a:pPr>
            <a:r>
              <a:t>Classification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08960" y="2990088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Calibri"/>
              </a:defRPr>
            </a:pPr>
            <a:r>
              <a:t>2.  Pipeline classifies it: MIME registry → pdf agent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3328416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818CF8"/>
                </a:solidFill>
                <a:latin typeface="Calibri"/>
              </a:defRPr>
            </a:pPr>
            <a:r>
              <a:t>Smart Routing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8960" y="3328416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Calibri"/>
              </a:defRPr>
            </a:pPr>
            <a:r>
              <a:t>3.  Router looks up routing config for agent_type="pdf"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08960" y="3666744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8BDF8"/>
                </a:solidFill>
                <a:latin typeface="Calibri"/>
              </a:defRPr>
            </a:pPr>
            <a:r>
              <a:t>4.  Config says: primary=ollama/gemma3:27b, fallback=gemini/gemini-2.5-flash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400507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818CF8"/>
                </a:solidFill>
                <a:latin typeface="Calibri"/>
              </a:defRPr>
            </a:pPr>
            <a:r>
              <a:t>Credentials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08960" y="4005072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Calibri"/>
              </a:defRPr>
            </a:pPr>
            <a:r>
              <a:t>5.  Resolve credentials: user has an Ollama Cloud engine → use their API key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43434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818CF8"/>
                </a:solidFill>
                <a:latin typeface="Calibri"/>
              </a:defRPr>
            </a:pPr>
            <a:r>
              <a:t>Inference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08960" y="4343400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4D399"/>
                </a:solidFill>
                <a:latin typeface="Calibri"/>
              </a:defRPr>
            </a:pPr>
            <a:r>
              <a:t>6.  Call litellm.completion(model="ollama/gemma3:27b", api_key=decrypted_key)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08960" y="4681728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4D399"/>
                </a:solidFill>
                <a:latin typeface="Calibri"/>
              </a:defRPr>
            </a:pPr>
            <a:r>
              <a:t>7.  Ollama Cloud returns analysis → viewpoint + embeddings + entities stored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80160" y="5020056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818CF8"/>
                </a:solidFill>
                <a:latin typeface="Calibri"/>
              </a:defRPr>
            </a:pPr>
            <a:r>
              <a:t>Fallback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08960" y="5020056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BBF24"/>
                </a:solidFill>
                <a:latin typeface="Calibri"/>
              </a:defRPr>
            </a:pPr>
            <a:r>
              <a:t>8.  If Ollama fails → retry with gemini/gemini-2.5-flash using system Gemini key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08960" y="5358384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BBF24"/>
                </a:solidFill>
                <a:latin typeface="Calibri"/>
              </a:defRPr>
            </a:pPr>
            <a:r>
              <a:t>9.  If Gemini fails → try self-hosted MODEL_SERVER_URL_LARGE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08960" y="5696712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4D399"/>
                </a:solidFill>
                <a:latin typeface="Calibri"/>
              </a:defRPr>
            </a:pPr>
            <a:r>
              <a:t>10.  Result: PDF fully enriched and queryable via any of 5 search modes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9144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Calibri"/>
              </a:defRPr>
            </a:pPr>
            <a:r>
              <a:t>Model Garden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0" y="1737360"/>
            <a:ext cx="3047695" cy="381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0" y="2194560"/>
            <a:ext cx="761969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Calibri"/>
              </a:defRPr>
            </a:pPr>
            <a:r>
              <a:rPr sz="2000" b="1">
                <a:solidFill>
                  <a:srgbClr val="38BDF8"/>
                </a:solidFill>
                <a:latin typeface="Calibri"/>
              </a:rPr>
              <a:t>Connect  </a:t>
            </a:r>
            <a:r>
              <a:rPr sz="2000">
                <a:solidFill>
                  <a:srgbClr val="A0AEC0"/>
                </a:solidFill>
                <a:latin typeface="Calibri"/>
              </a:rPr>
              <a:t>16+ AI providers with encrypted API key storage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0" y="2651760"/>
            <a:ext cx="761969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Calibri"/>
              </a:defRPr>
            </a:pPr>
            <a:r>
              <a:rPr sz="2000" b="1">
                <a:solidFill>
                  <a:srgbClr val="38BDF8"/>
                </a:solidFill>
                <a:latin typeface="Calibri"/>
              </a:rPr>
              <a:t>Discover  </a:t>
            </a:r>
            <a:r>
              <a:rPr sz="2000">
                <a:solidFill>
                  <a:srgbClr val="A0AEC0"/>
                </a:solidFill>
                <a:latin typeface="Calibri"/>
              </a:rPr>
              <a:t>available models automatically from any provider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0" y="3108960"/>
            <a:ext cx="761969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Calibri"/>
              </a:defRPr>
            </a:pPr>
            <a:r>
              <a:rPr sz="2000" b="1">
                <a:solidFill>
                  <a:srgbClr val="38BDF8"/>
                </a:solidFill>
                <a:latin typeface="Calibri"/>
              </a:rPr>
              <a:t>Route  </a:t>
            </a:r>
            <a:r>
              <a:rPr sz="2000">
                <a:solidFill>
                  <a:srgbClr val="A0AEC0"/>
                </a:solidFill>
                <a:latin typeface="Calibri"/>
              </a:rPr>
              <a:t>42 data types to the smallest capable model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0" y="3566160"/>
            <a:ext cx="761969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Calibri"/>
              </a:defRPr>
            </a:pPr>
            <a:r>
              <a:rPr sz="2000" b="1">
                <a:solidFill>
                  <a:srgbClr val="38BDF8"/>
                </a:solidFill>
                <a:latin typeface="Calibri"/>
              </a:rPr>
              <a:t>Override  </a:t>
            </a:r>
            <a:r>
              <a:rPr sz="2000">
                <a:solidFill>
                  <a:srgbClr val="A0AEC0"/>
                </a:solidFill>
                <a:latin typeface="Calibri"/>
              </a:rPr>
              <a:t>any routing decision per-user from the UI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0" y="4023360"/>
            <a:ext cx="761969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Calibri"/>
              </a:defRPr>
            </a:pPr>
            <a:r>
              <a:rPr sz="2000" b="1">
                <a:solidFill>
                  <a:srgbClr val="38BDF8"/>
                </a:solidFill>
                <a:latin typeface="Calibri"/>
              </a:rPr>
              <a:t>Fallback  </a:t>
            </a:r>
            <a:r>
              <a:rPr sz="2000">
                <a:solidFill>
                  <a:srgbClr val="A0AEC0"/>
                </a:solidFill>
                <a:latin typeface="Calibri"/>
              </a:rPr>
              <a:t>gracefully across models, credentials, and infrastructure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0" y="4480560"/>
            <a:ext cx="761969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Calibri"/>
              </a:defRPr>
            </a:pPr>
            <a:r>
              <a:rPr sz="2000" b="1">
                <a:solidFill>
                  <a:srgbClr val="38BDF8"/>
                </a:solidFill>
                <a:latin typeface="Calibri"/>
              </a:rPr>
              <a:t>Encrypt  </a:t>
            </a:r>
            <a:r>
              <a:rPr sz="2000">
                <a:solidFill>
                  <a:srgbClr val="A0AEC0"/>
                </a:solidFill>
                <a:latin typeface="Calibri"/>
              </a:rPr>
              <a:t>all API keys with Fernet AES-256 at rest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86000" y="4937760"/>
            <a:ext cx="761969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Calibri"/>
              </a:defRPr>
            </a:pPr>
            <a:r>
              <a:rPr sz="2000" b="1">
                <a:solidFill>
                  <a:srgbClr val="38BDF8"/>
                </a:solidFill>
                <a:latin typeface="Calibri"/>
              </a:rPr>
              <a:t>Manage  </a:t>
            </a:r>
            <a:r>
              <a:rPr sz="2000">
                <a:solidFill>
                  <a:srgbClr val="A0AEC0"/>
                </a:solidFill>
                <a:latin typeface="Calibri"/>
              </a:rPr>
              <a:t>Ollama pods from the browser — create, scale, monitor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86000" y="5394960"/>
            <a:ext cx="761969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Calibri"/>
              </a:defRPr>
            </a:pPr>
            <a:r>
              <a:rPr sz="2000" b="1">
                <a:solidFill>
                  <a:srgbClr val="38BDF8"/>
                </a:solidFill>
                <a:latin typeface="Calibri"/>
              </a:rPr>
              <a:t>Customize  </a:t>
            </a:r>
            <a:r>
              <a:rPr sz="2000">
                <a:solidFill>
                  <a:srgbClr val="A0AEC0"/>
                </a:solidFill>
                <a:latin typeface="Calibri"/>
              </a:rPr>
              <a:t>agent prompts, schemas, and processing flags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5943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34D399"/>
                </a:solidFill>
                <a:latin typeface="Calibri"/>
              </a:defRPr>
            </a:pPr>
            <a:r>
              <a:t>Any provider. Any model. Automatic routing. Zero lock-in.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