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From Ingestion to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8BDF8"/>
                </a:solidFill>
                <a:latin typeface="Calibri"/>
              </a:defRPr>
            </a:pPr>
            <a:r>
              <a:t>How Mem-Dog Ingests, Enriches, and Makes Data Queryable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t>3 ingestion paths  ·  6-layer classification  ·  42 AI agents</a:t>
            </a:r>
            <a:br/>
            <a:r>
              <a:t>5 search modes  ·  4 rerankers  ·  RAG chat with citations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Pipeline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6607" y="2011680"/>
            <a:ext cx="19202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9487" y="21945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487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t>3 entry paths</a:t>
            </a:r>
            <a:br/>
            <a:r>
              <a:t>into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6847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167" y="2011680"/>
            <a:ext cx="19202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4047" y="21945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  <a:latin typeface="Calibri"/>
              </a:defRPr>
            </a:pPr>
            <a:r>
              <a:t>Classify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047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t>6-layer detection</a:t>
            </a:r>
            <a:br/>
            <a:r>
              <a:t>finds the right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1407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5727" y="2011680"/>
            <a:ext cx="19202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18607" y="21945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D399"/>
                </a:solidFill>
                <a:latin typeface="Calibri"/>
              </a:defRPr>
            </a:pPr>
            <a:r>
              <a:t>Enrich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8607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t>42 AI agents</a:t>
            </a:r>
            <a:br/>
            <a:r>
              <a:t>analyze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5967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0287" y="2011680"/>
            <a:ext cx="19202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3167" y="21945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18CF8"/>
                </a:solidFill>
                <a:latin typeface="Calibri"/>
              </a:defRPr>
            </a:pPr>
            <a:r>
              <a:t>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3167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t>Viewpoints, embeddings,</a:t>
            </a:r>
            <a:br/>
            <a:r>
              <a:t>entities,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527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4847" y="2011680"/>
            <a:ext cx="192024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7727" y="21945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D399"/>
                </a:solidFill>
                <a:latin typeface="Calibri"/>
              </a:defRPr>
            </a:pPr>
            <a:r>
              <a:t>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7727" y="28346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t>5 search modes</a:t>
            </a:r>
            <a:br/>
            <a:r>
              <a:t>RAG chat + citations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Calibri"/>
              </a:defRPr>
            </a:pPr>
            <a:r>
              <a:t>Data enters from any source, gets classified without AI when possible,</a:t>
            </a:r>
            <a:br/>
            <a:r>
              <a:t>enriched by a specialized agent, and stored in multiple queryable indexes.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Three Ways Data Enters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Calibri"/>
              </a:defRPr>
            </a:pPr>
            <a:r>
              <a:t>Channel Webhooks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40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D399"/>
                </a:solidFill>
                <a:latin typeface="Courier New"/>
              </a:defRPr>
            </a:pPr>
            <a:r>
              <a:t>POST /webhooks/{webhook_id}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EC0"/>
                </a:solidFill>
                <a:latin typeface="Calibri"/>
              </a:defRPr>
            </a:pPr>
            <a:r>
              <a:t>33 channel adapters in the Webhook Gateway normalize messages from Slack, WhatsApp, Email, GitHub, Jira, etc. into a UniversalEnvelope and forward to the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1036289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D399"/>
                </a:solidFill>
                <a:latin typeface="Calibri"/>
              </a:defRPr>
            </a:pPr>
            <a:r>
              <a:t>Direct API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86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D399"/>
                </a:solidFill>
                <a:latin typeface="Courier New"/>
              </a:defRPr>
            </a:pPr>
            <a:r>
              <a:t>POST /api/v1/data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20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EC0"/>
                </a:solidFill>
                <a:latin typeface="Calibri"/>
              </a:defRPr>
            </a:pPr>
            <a:r>
              <a:t>Upload files, text, or URLs directly through the API or UI. Supports 6 upload modes: text, file, URL, camera, voice, and video.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937760"/>
            <a:ext cx="1036289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074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  <a:latin typeface="Calibri"/>
              </a:defRPr>
            </a:pPr>
            <a:r>
              <a:t>Universal Envelope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532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D399"/>
                </a:solidFill>
                <a:latin typeface="Courier New"/>
              </a:defRPr>
            </a:pPr>
            <a:r>
              <a:t>POST /api/v1/ingest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1663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EC0"/>
                </a:solidFill>
                <a:latin typeface="Calibri"/>
              </a:defRPr>
            </a:pPr>
            <a:r>
              <a:t>Structured ingest with origin, payload, and context descriptors. Supports direct=true to bypass the pipeline for pre-processed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Universal Envelope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0AEC0"/>
                </a:solidFill>
                <a:latin typeface="Calibri"/>
              </a:defRPr>
            </a:pPr>
            <a:r>
              <a:t>Every piece of data is wrapped in a UniversalEnvelope — a single container that standardizes any data type for the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32004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Calibri"/>
              </a:defRPr>
            </a:pPr>
            <a:r>
              <a:t>Origin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00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Where did this come from?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49039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source_type  —  email, slack, api, file...</a:t>
            </a:r>
            <a:br/>
            <a:r>
              <a:t>channel_type  —  whatsapp, telegram...</a:t>
            </a:r>
            <a:br/>
            <a:r>
              <a:t>user_id  —  who sent it</a:t>
            </a:r>
            <a:br/>
            <a:r>
              <a:t>device_id  —  what device</a:t>
            </a:r>
            <a:br/>
            <a:r>
              <a:t>timestamp  —  when it happened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560320"/>
            <a:ext cx="32004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D399"/>
                </a:solidFill>
                <a:latin typeface="Calibri"/>
              </a:defRPr>
            </a:pPr>
            <a:r>
              <a:t>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200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What is the actual content?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749039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content_type  —  text, file, url, binary</a:t>
            </a:r>
            <a:br/>
            <a:r>
              <a:t>data  —  the raw content</a:t>
            </a:r>
            <a:br/>
            <a:r>
              <a:t>mime_type  —  application/pdf, etc.</a:t>
            </a:r>
            <a:br/>
            <a:r>
              <a:t>metadata  —  tags, labels, context</a:t>
            </a:r>
            <a:br/>
            <a:r>
              <a:t>attachments  —  files,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60320"/>
            <a:ext cx="32004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00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What’s the surrounding context?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749039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memory_type  —  conversation, session...</a:t>
            </a:r>
            <a:br/>
            <a:r>
              <a:t>group_id  —  link related items</a:t>
            </a:r>
            <a:br/>
            <a:r>
              <a:t>thread_id  —  conversation thread</a:t>
            </a:r>
            <a:br/>
            <a:r>
              <a:t>project_id  —  org/project scope</a:t>
            </a:r>
            <a:br/>
            <a:r>
              <a:t>tags  —  user-defined labels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NATS Pipeline Dispatch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0AEC0"/>
                </a:solidFill>
                <a:latin typeface="Calibri"/>
              </a:defRPr>
            </a:pPr>
            <a:r>
              <a:t>After the API stores the raw data, it publishes to NATS JetStream. A pull worker picks up the message and routes it to the right agent.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502920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Dispatch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1.  API stores data in Postgres + blob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49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2.  API publishes to NATS subject: webhook.inbound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1148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3.  Pull worker subscribes with queue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480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4.  Worker deserializes the envelope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8463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BBF24"/>
                </a:solidFill>
                <a:latin typeface="Calibri"/>
              </a:defRPr>
            </a:pPr>
            <a:r>
              <a:t>5.  Router runs 6-layer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2120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D399"/>
                </a:solidFill>
                <a:latin typeface="Calibri"/>
              </a:defRPr>
            </a:pPr>
            <a:r>
              <a:t>6.  Matched agent receives the 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5778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D399"/>
                </a:solidFill>
                <a:latin typeface="Calibri"/>
              </a:defRPr>
            </a:pPr>
            <a:r>
              <a:t>7.  Agent processes and writes results back to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560320"/>
            <a:ext cx="502920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Why NATS JetStream?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832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Durable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6393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Messages survive pod restarts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8862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Pull-based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1422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Workers control their own 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3891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Queue groups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6451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Multiple workers, no duplicate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8920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Backpressure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14807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Slow consumers don’t lose messages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3949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At-least-once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65099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Failed processing gets retried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6-Layer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0AEC0"/>
                </a:solidFill>
                <a:latin typeface="Calibri"/>
              </a:defRPr>
            </a:pPr>
            <a:r>
              <a:t>The router tries each layer in order. First match wins. Most data is classified without calling an LLM at all.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68880"/>
          <a:ext cx="103628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 message shortcut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WhatsApp message → channel_message agent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0a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UDE source_type mapping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source_type=email → email agent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Explicit data_type field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Caller specifies data_type=pdf directly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Payload field heuristics (50+ patterns)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Has latitude + longitude → gps agent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MIME registry lookup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application/pdf → pdf agent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URL extension sniffing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.csv → csv agent, .mp4 → video_url agent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Fallback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Unrecognized content → binary_blob agent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34D399"/>
                </a:solidFill>
                <a:latin typeface="Calibri"/>
              </a:defRPr>
            </a:pPr>
            <a:r>
              <a:t>Layers 0–4 are deterministic — no LLM cost, sub-millisecond. Only truly ambiguous content falls through to the blob agent.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42 Specialized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Each agent knows how to analyze its data type. The right model tier is selected automatically — simple data gets a small model, complex data gets a large one.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68880"/>
          <a:ext cx="48463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Agents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Documents (5)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PDF, Office, HTML, Markdown, Web Page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 (6)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Image, Image Batch, Audio/Video URL/Stream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Communication (6)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Chat, Channel Msg, Email, Feed, Calendar, Conferencing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Structured (4)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JSON, CSV, YAML, XML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 &amp; Logs (3)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Code, Log File, Log Stream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Sensor (4)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GPS, Biometric, IoT Sensor, Sensor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468880"/>
          <a:ext cx="487649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247"/>
                <a:gridCol w="2438248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Agents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Spatial (3)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Geospatial, LiDAR, 3D Model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Specialized (5)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Financial, Industrial, Infra, Scientific, Satellite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Binary (3)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Archive, Time Series, Binary Blob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Other (3)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Medical Imaging, Vehicle Telemetry, URL Download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4754880"/>
            <a:ext cx="4876495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5-Tier Smart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Small (4b) → Medium (12b) → Large (27b) → Multimodal → Omni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D399"/>
                </a:solidFill>
                <a:latin typeface="Calibri"/>
              </a:defRPr>
            </a:pPr>
            <a:r>
              <a:t>80% of data runs on the smallest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AI Enrichment Produces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0AEC0"/>
                </a:solidFill>
                <a:latin typeface="Calibri"/>
              </a:defRPr>
            </a:pPr>
            <a:r>
              <a:t>Each agent writes back multiple artifacts. Together, they make the original data deeply searchable and queryable.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49377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Viewpoint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1089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The agent’s AI analysis of the content — a structured summary with input_content, output_content, and an AISignature tracking which model produced it and when.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468880"/>
            <a:ext cx="49377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1089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Vector representations for semantic search. Content is chunked into 1000-char windows with 200-char overlap. Each chunk gets its own embedding vector (768+ dimensions).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80560"/>
            <a:ext cx="49377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6634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Calibri"/>
              </a:defRPr>
            </a:pPr>
            <a:r>
              <a:t>Entities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1206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Extracted people, organizations, locations, products, dates, URLs, concepts, and events. Dual-written to Postgres and Graphiti/Neo4j with temporal valid_at/invalid_at timestamps.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480560"/>
            <a:ext cx="493776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6634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8CF8"/>
                </a:solidFill>
                <a:latin typeface="Calibri"/>
              </a:defRPr>
            </a:pPr>
            <a:r>
              <a:t>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1206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Directed connections between entities — works_at, located_in, mentioned_in, etc. Stored in the knowledge graph for BFS traversal during graph 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Embedding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0AEC0"/>
                </a:solidFill>
                <a:latin typeface="Calibri"/>
              </a:defRPr>
            </a:pPr>
            <a:r>
              <a:t>Embeddings power semantic search. Every piece of content is chunked, vectorized, and stored for cosine similarity retrieval.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5029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Chunking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918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1000-character windows with 200-char overlap.</a:t>
            </a:r>
            <a:br/>
            <a:r>
              <a:t>Overlap ensures no information is lost at</a:t>
            </a:r>
            <a:br/>
            <a:r>
              <a:t>chunk boundaries. Each chunk is embedded</a:t>
            </a:r>
            <a:br/>
            <a:r>
              <a:t>independently.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560320"/>
            <a:ext cx="5029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Embedding Engine Cascade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1.  Local Ollama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In-cluster, free, fastest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2.  Ollama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Fallback if local is 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3.  Gemini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Final fallback, cloud-based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754880"/>
            <a:ext cx="10362895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Where Embeddings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394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Vectors stored in Postgres via pgvector extension (cosine similarity index). Each embedding links back to its source data_id and chunk_text, along with an AISignature recording which model and engine produced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Dual-Layer Knowledge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0AEC0"/>
                </a:solidFill>
                <a:latin typeface="Calibri"/>
              </a:defRPr>
            </a:pPr>
            <a:r>
              <a:t>Entities and relationships are dual-written to two complementary stores — always-on Postgres and optional temporal Graphiti/Neo4j.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50292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Calibri"/>
              </a:defRPr>
            </a:pPr>
            <a:r>
              <a:t>Layer 1: Postgres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918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Always active. Zero extra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404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•  8 entity types: person, organization,</a:t>
            </a:r>
            <a:br/>
            <a:r>
              <a:t>product, location, date, URL, concept,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3891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•  Directed relationships between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9377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•  Entity → source data mappings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4864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•  Deduplicated via canonical form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50292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D399"/>
                </a:solidFill>
                <a:latin typeface="Calibri"/>
              </a:defRPr>
            </a:pPr>
            <a:r>
              <a:t>Layer 2: Graphiti + Neo4j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918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Optional. Adds temporal reasoning.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8404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•  Temporal facts with valid_at / invalid_at</a:t>
            </a:r>
            <a:br/>
            <a:r>
              <a:t>timestamps for point-in-time 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3891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•  LLM-powered entity resolution merges</a:t>
            </a:r>
            <a:br/>
            <a:r>
              <a:t>duplicates ("J. Smith" = "John Smith")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9377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•  Community detection clusters related entities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4864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•  Fire-and-forget async dual-write from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5 Search Modes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0AEC0"/>
                </a:solidFill>
                <a:latin typeface="Calibri"/>
              </a:defRPr>
            </a:pPr>
            <a:r>
              <a:t>All the enrichment feeds into a multi-signal search engine. Each mode taps different indexes for different strengths.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68880"/>
          <a:ext cx="103628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Engine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vector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pgvector cosine similarity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Semantic meaning — "things like this"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fts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Postgres tsvector / BM25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Exact terms, names, IDs, keywords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vector + BM25 via RRF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General purpose (default) — best of both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Graphiti BFS + semantic on Neo4j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Entity relationships, temporal facts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 + graph merged with RRF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Maximum recall across all signals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A0AEC0"/>
                </a:solidFill>
                <a:latin typeface="Calibri"/>
              </a:defRPr>
            </a:pPr>
            <a:r>
              <a:t>Hybrid merges vector and keyword scores via Reciprocal Rank Fusion. Full mode adds graph results on top for the broadest coverage.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4 Reranking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0AEC0"/>
                </a:solidFill>
                <a:latin typeface="Calibri"/>
              </a:defRPr>
            </a:pPr>
            <a:r>
              <a:t>After initial retrieval, results can be re-scored to improve relevance, diversity, or precision before reaching the user.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24688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0A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0AEC0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Raw scores from the search engine.</a:t>
            </a:r>
            <a:br/>
            <a:r>
              <a:t>Fastest option — good for simple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560320"/>
            <a:ext cx="24688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Calibri"/>
              </a:defRPr>
            </a:pPr>
            <a:r>
              <a:t>RRF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918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Reciprocal Rank Fusion. Merges ranked</a:t>
            </a:r>
            <a:br/>
            <a:r>
              <a:t>lists from multiple search modes fairly.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560320"/>
            <a:ext cx="24688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  <a:latin typeface="Calibri"/>
              </a:defRPr>
            </a:pPr>
            <a:r>
              <a:t>MMR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918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Maximal Marginal Relevance. Prioritizes</a:t>
            </a:r>
            <a:br/>
            <a:r>
              <a:t>diversity — avoids redundant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560320"/>
            <a:ext cx="24688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D399"/>
                </a:solidFill>
                <a:latin typeface="Calibri"/>
              </a:defRPr>
            </a:pPr>
            <a:r>
              <a:t>Cross-encoder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29184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LLM re-scores each result against the query.</a:t>
            </a:r>
            <a:br/>
            <a:r>
              <a:t>Highest accuracy, highest cost.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RAG Chat with Citations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0AEC0"/>
                </a:solidFill>
                <a:latin typeface="Calibri"/>
              </a:defRPr>
            </a:pPr>
            <a:r>
              <a:t>The final step: turn search results into a conversational answer with traceable inline citations back to source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10362895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4D399"/>
                </a:solidFill>
                <a:latin typeface="Courier New"/>
              </a:defRPr>
            </a:pPr>
            <a:r>
              <a:t>POST /api/v1/ai/query/chat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91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2918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User asks 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6393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63931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Embed the query using the same embedding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9867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98678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Run selected search mode (vector, hybrid, graph, full)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3342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33425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Apply reranker to retrieved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6817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6817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Build numbered context:  [1] source A,  [2] source B,  [3] source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029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0292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Send context + conversation history + question to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766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37667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4D399"/>
                </a:solidFill>
                <a:latin typeface="Calibri"/>
              </a:defRPr>
            </a:pPr>
            <a:r>
              <a:t>LLM generates answer with inline [1] [2] [3] citation markers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7241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72414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4D399"/>
                </a:solidFill>
                <a:latin typeface="Calibri"/>
              </a:defRPr>
            </a:pPr>
            <a:r>
              <a:t>Extract cited indices, return only referenced sources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End-to-End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0AEC0"/>
                </a:solidFill>
                <a:latin typeface="Calibri"/>
              </a:defRPr>
            </a:pPr>
            <a:r>
              <a:t>A Slack message about a product launch, from ingestion to query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502920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Ingestion + Enrichment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0040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 Slack adapter normalizes to UniversalEnvelope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54787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 API stores raw message + publishes to NATS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89534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Calibri"/>
              </a:defRPr>
            </a:pPr>
            <a:r>
              <a:t>•  Router: channel message → layer 0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4281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 ChannelMessageAgent analyzes with Gemma3:4b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59028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  <a:latin typeface="Calibri"/>
              </a:defRPr>
            </a:pPr>
            <a:r>
              <a:t>•  Viewpoint: intent=announcement, topic=launch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3776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  <a:latin typeface="Calibri"/>
              </a:defRPr>
            </a:pPr>
            <a:r>
              <a:t>•  Embeddings: 2 chunks × 768-dim vectors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2852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  <a:latin typeface="Calibri"/>
              </a:defRPr>
            </a:pPr>
            <a:r>
              <a:t>•  Entities: "Product X", "Q3", "pricing model"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63270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  <a:latin typeface="Calibri"/>
              </a:defRPr>
            </a:pPr>
            <a:r>
              <a:t>•  Graph: Product X → launches_in → Q3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377440"/>
            <a:ext cx="502920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5603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Query +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0040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 User asks: "When is the product launch?"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54787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 Query embedded → hybrid search (vector + FTS)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89534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Calibri"/>
              </a:defRPr>
            </a:pPr>
            <a:r>
              <a:t>•  Vector match: Slack msg (0.89 similarity)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24281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Calibri"/>
              </a:defRPr>
            </a:pPr>
            <a:r>
              <a:t>•  FTS match: "product launch" keyword hit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59028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Calibri"/>
              </a:defRPr>
            </a:pPr>
            <a:r>
              <a:t>•  RRF merges scores → Slack msg ranked 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93776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Calibri"/>
              </a:defRPr>
            </a:pPr>
            <a:r>
              <a:t>•  Graph boost: Product X entity context added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2852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  <a:latin typeface="Calibri"/>
              </a:defRPr>
            </a:pPr>
            <a:r>
              <a:t>•  LLM: "Based on [1], the product launch 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63270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  <a:latin typeface="Calibri"/>
              </a:defRPr>
            </a:pPr>
            <a:r>
              <a:t>•  scheduled for Q3. Action items include..."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From Ingestion to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737360"/>
            <a:ext cx="3047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1945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Ingest  </a:t>
            </a:r>
            <a:r>
              <a:rPr sz="2000">
                <a:solidFill>
                  <a:srgbClr val="A0AEC0"/>
                </a:solidFill>
                <a:latin typeface="Calibri"/>
              </a:rPr>
              <a:t>from 33 channel adapters, direct API, or universal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6517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Classify  </a:t>
            </a:r>
            <a:r>
              <a:rPr sz="2000">
                <a:solidFill>
                  <a:srgbClr val="A0AEC0"/>
                </a:solidFill>
                <a:latin typeface="Calibri"/>
              </a:rPr>
              <a:t>with 6 deterministic layers — no LLM needed for most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1089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Route  </a:t>
            </a:r>
            <a:r>
              <a:rPr sz="2000">
                <a:solidFill>
                  <a:srgbClr val="A0AEC0"/>
                </a:solidFill>
                <a:latin typeface="Calibri"/>
              </a:rPr>
              <a:t>to 1 of 42 specialized agents matched to the data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5661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Analyze  </a:t>
            </a:r>
            <a:r>
              <a:rPr sz="2000">
                <a:solidFill>
                  <a:srgbClr val="A0AEC0"/>
                </a:solidFill>
                <a:latin typeface="Calibri"/>
              </a:rPr>
              <a:t>with the smallest model that can handle the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0233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Embed  </a:t>
            </a:r>
            <a:r>
              <a:rPr sz="2000">
                <a:solidFill>
                  <a:srgbClr val="A0AEC0"/>
                </a:solidFill>
                <a:latin typeface="Calibri"/>
              </a:rPr>
              <a:t>into 768+ dim vectors with cascading engine fallbacks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4805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Extract  </a:t>
            </a:r>
            <a:r>
              <a:rPr sz="2000">
                <a:solidFill>
                  <a:srgbClr val="A0AEC0"/>
                </a:solidFill>
                <a:latin typeface="Calibri"/>
              </a:rPr>
              <a:t>entities and relationships into a temporal knowledge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9377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Search  </a:t>
            </a:r>
            <a:r>
              <a:rPr sz="2000">
                <a:solidFill>
                  <a:srgbClr val="A0AEC0"/>
                </a:solidFill>
                <a:latin typeface="Calibri"/>
              </a:rPr>
              <a:t>across 5 modes — vector, keyword, hybrid, graph, full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3949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Answer  </a:t>
            </a:r>
            <a:r>
              <a:rPr sz="2000">
                <a:solidFill>
                  <a:srgbClr val="A0AEC0"/>
                </a:solidFill>
                <a:latin typeface="Calibri"/>
              </a:rPr>
              <a:t>with RAG chat, conversation history, and [1][2] citations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4D399"/>
                </a:solidFill>
                <a:latin typeface="Calibri"/>
              </a:defRPr>
            </a:pPr>
            <a:r>
              <a:t>Every piece of data, automatically enriched and instantly queryable.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