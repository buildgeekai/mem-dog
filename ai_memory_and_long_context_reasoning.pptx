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-457200"/>
            <a:ext cx="2377440" cy="237744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200400"/>
            <a:ext cx="1645920" cy="164592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28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4389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BuildGeek AI  ·  Research Series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1143000"/>
            <a:ext cx="4251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AI Memory &amp;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Long-Context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38BDF8"/>
                </a:solidFill>
              </a:rPr>
              <a:t>Reasoning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84048" y="321868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How AI systems remember, retrieve, and reason — and why it matters for the applications you build and use.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" y="4133088"/>
            <a:ext cx="3291840" cy="36576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4224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Motivations · Memory Types · Solutions · Applications · Open Challenges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0" y="868680"/>
            <a:ext cx="3749040" cy="749808"/>
          </a:xfrm>
          <a:prstGeom prst="rect">
            <a:avLst/>
          </a:prstGeom>
          <a:solidFill>
            <a:srgbClr val="38BDF8">
              <a:alpha val="15000"/>
            </a:srgbClr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0" y="868680"/>
            <a:ext cx="73152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93792" y="923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Working Memory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93792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What you're currently saying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0" y="1874520"/>
            <a:ext cx="3749040" cy="749808"/>
          </a:xfrm>
          <a:prstGeom prst="rect">
            <a:avLst/>
          </a:prstGeom>
          <a:solidFill>
            <a:srgbClr val="06B6D4">
              <a:alpha val="15000"/>
            </a:srgbClr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29200" y="1874520"/>
            <a:ext cx="73152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93792" y="1929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Episodic Memory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93792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What happened in past sessions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29200" y="2880360"/>
            <a:ext cx="3749040" cy="749808"/>
          </a:xfrm>
          <a:prstGeom prst="rect">
            <a:avLst/>
          </a:prstGeom>
          <a:solidFill>
            <a:srgbClr val="10B981">
              <a:alpha val="15000"/>
            </a:srgbClr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0" y="2880360"/>
            <a:ext cx="73152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93792" y="2935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Semantic Memory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193792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General knowledge from training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029200" y="3886200"/>
            <a:ext cx="3749040" cy="749808"/>
          </a:xfrm>
          <a:prstGeom prst="rect">
            <a:avLst/>
          </a:prstGeom>
          <a:solidFill>
            <a:srgbClr val="F59E0B">
              <a:alpha val="15000"/>
            </a:srgbClr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029200" y="3886200"/>
            <a:ext cx="7315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93792" y="3941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External Memory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193792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Look it up (RAG / databases)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82296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66928"/>
            <a:ext cx="1417320" cy="23774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AI Has a Memory Problem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264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</a:rPr>
              <a:t>Every conversation, every document, every session — AI starts completely fresh. Here's what that breaks.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" y="1938528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938528"/>
            <a:ext cx="201168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208483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3776" y="24871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 memory between chats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" y="2999232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Ask ChatGPT something today, come back tomorrow — it has no idea who you are or what you discussed.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93776" y="3950208"/>
            <a:ext cx="177393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" y="3986784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3F5E"/>
                </a:solidFill>
              </a:rPr>
              <a:t>💡 Like talking to someone with amnesia every morning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938528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60320" y="1938528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084832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70048" y="24871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Can't handle huge documents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670048" y="2999232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AI can only read a limited window of text at once — roughly a few hundred pages max. Longer content gets cut off.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670048" y="3950208"/>
            <a:ext cx="177393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670048" y="3986784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💡 Like reading a book through a tiny hole in a sheet of paper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736592" y="1938528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36592" y="1938528"/>
            <a:ext cx="201168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084832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46320" y="24871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Forgets the middle of long docs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846320" y="2999232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Even within its window, AI remembers the beginning and end much better than the middle — so critical info gets lost.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846320" y="3950208"/>
            <a:ext cx="177393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46320" y="3986784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BDF8"/>
                </a:solidFill>
              </a:rPr>
              <a:t>💡 Like nailing your intro and conclusion but blanking on the key examples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6912864" y="1938528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912864" y="1938528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2084832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22592" y="24871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Multi-step reasoning breaks down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022592" y="2999232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Complex tasks need the AI to hold many facts in mind at once. Without memory, it loses track and makes mistakes.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022592" y="3950208"/>
            <a:ext cx="177393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022592" y="3986784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</a:rPr>
              <a:t>💡 Like solving a math problem in your head when you can only hold 3 numbers at once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17320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</a:rPr>
              <a:t>MEMORY TYPES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 Types of AI Memory — Think of Your Own Brain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4160520" cy="1828800"/>
          </a:xfrm>
          <a:prstGeom prst="rect">
            <a:avLst/>
          </a:prstGeom>
          <a:solidFill>
            <a:srgbClr val="0F2040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05840"/>
            <a:ext cx="4160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4300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0976" y="1115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Working Memory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" y="1536192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🧠 Your focus right now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21208" y="1755648"/>
            <a:ext cx="3904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Like the 7 things you can hold in your head mid-conversation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21208" y="2121408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🤖 The text currently in the AI's prompt window — 4K to 2M tokens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21208" y="2523744"/>
            <a:ext cx="3886200" cy="9144"/>
          </a:xfrm>
          <a:prstGeom prst="rect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" y="2560320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⚠️ Disappears when the session ends. Finite, like RAM in a computer.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709160" y="1005840"/>
            <a:ext cx="4050792" cy="1828800"/>
          </a:xfrm>
          <a:prstGeom prst="rect">
            <a:avLst/>
          </a:prstGeom>
          <a:solidFill>
            <a:srgbClr val="0F204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1005840"/>
            <a:ext cx="4050792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76088" y="111556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Episodic Memory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846320" y="15361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🧠 What happened last Tuesday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846320" y="17556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You recall specific events, conversations, and timelines from your past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846320" y="21214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🤖 AI agents storing past session logs and interaction history with a user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846320" y="2523744"/>
            <a:ext cx="3776472" cy="9144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46320" y="256032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⚠️ Must be explicitly stored and retrieved — doesn't happen automatically.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384048" y="2999232"/>
            <a:ext cx="4160520" cy="1828800"/>
          </a:xfrm>
          <a:prstGeom prst="rect">
            <a:avLst/>
          </a:prstGeom>
          <a:solidFill>
            <a:srgbClr val="0F204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84048" y="2999232"/>
            <a:ext cx="41605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136392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50976" y="31089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Semantic Memory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21208" y="3529584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🧠 General knowledge you just know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521208" y="3749040"/>
            <a:ext cx="3904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You know Paris is the capital of France — you didn't learn it today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521208" y="4114800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🤖 Everything baked into AI weights during training: world knowledge, facts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21208" y="4517136"/>
            <a:ext cx="3886200" cy="9144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21208" y="4553712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⚠️ Frozen at training time. Doesn't update automatically. Can go stale.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4709160" y="2999232"/>
            <a:ext cx="4050792" cy="1828800"/>
          </a:xfrm>
          <a:prstGeom prst="rect">
            <a:avLst/>
          </a:prstGeom>
          <a:solidFill>
            <a:srgbClr val="0F204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709160" y="2999232"/>
            <a:ext cx="405079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36392"/>
            <a:ext cx="347472" cy="34747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276088" y="310896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External Memory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846320" y="352958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🧠 Looking something up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846320" y="374904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You Google it, check your notes app, or ask a colleague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4846320" y="41148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🤖 RAG: AI searches a vector database or knowledge graph in real-time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4846320" y="4517136"/>
            <a:ext cx="3776472" cy="914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4846320" y="455371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⚠️ Retrieval quality depends on how well the index is built.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82296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66928"/>
            <a:ext cx="1417320" cy="2377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</a:rPr>
              <a:t>MEMORY × APPS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Which Apps Need Which Memory?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350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Each AI application relies on a different mix — understanding this helps you build and use AI more effectively.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09928" y="1600200"/>
            <a:ext cx="1773936" cy="640080"/>
          </a:xfrm>
          <a:prstGeom prst="rect">
            <a:avLst/>
          </a:prstGeom>
          <a:solidFill>
            <a:srgbClr val="38BDF8">
              <a:alpha val="12000"/>
            </a:srgbClr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6504" y="163677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Working Memory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46504" y="200253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8BDF8"/>
                </a:solidFill>
              </a:rPr>
              <a:t>Current context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520440" y="1600200"/>
            <a:ext cx="1773936" cy="640080"/>
          </a:xfrm>
          <a:prstGeom prst="rect">
            <a:avLst/>
          </a:prstGeom>
          <a:solidFill>
            <a:srgbClr val="06B6D4">
              <a:alpha val="12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63677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Episodic Memory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57016" y="200253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6B6D4"/>
                </a:solidFill>
              </a:rPr>
              <a:t>Past sessions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330952" y="1600200"/>
            <a:ext cx="1773936" cy="640080"/>
          </a:xfrm>
          <a:prstGeom prst="rect">
            <a:avLst/>
          </a:prstGeom>
          <a:solidFill>
            <a:srgbClr val="10B981">
              <a:alpha val="12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67528" y="163677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Semantic 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67528" y="200253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0B981"/>
                </a:solidFill>
              </a:rPr>
              <a:t>Trained knowledge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141464" y="1600200"/>
            <a:ext cx="1773936" cy="640080"/>
          </a:xfrm>
          <a:prstGeom prst="rect">
            <a:avLst/>
          </a:prstGeom>
          <a:solidFill>
            <a:srgbClr val="F59E0B">
              <a:alpha val="12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63677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External Memory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78040" y="200253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59E0B"/>
                </a:solidFill>
              </a:rPr>
              <a:t>Look it up (RAG)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84048" y="2276856"/>
            <a:ext cx="1325880" cy="402336"/>
          </a:xfrm>
          <a:prstGeom prst="rect">
            <a:avLst/>
          </a:prstGeom>
          <a:solidFill>
            <a:srgbClr val="38BDF8">
              <a:alpha val="12000"/>
            </a:srgbClr>
          </a:solidFill>
          <a:ln w="7620">
            <a:solidFill>
              <a:srgbClr val="38BDF8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5000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86384" y="23134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Coding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Assistant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709928" y="2276856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764792" y="231343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✅ Current files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&amp; codebase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3520440" y="2276856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75304" y="231343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✅ Past sessions,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architecture choices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5330952" y="2276856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85816" y="231343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✅ Language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patterns, APIs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141464" y="2276856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96328" y="231343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⭕ Docs,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StackOverflow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384048" y="2715768"/>
            <a:ext cx="1325880" cy="402336"/>
          </a:xfrm>
          <a:prstGeom prst="rect">
            <a:avLst/>
          </a:prstGeom>
          <a:solidFill>
            <a:srgbClr val="F43F5E">
              <a:alpha val="12000"/>
            </a:srgbClr>
          </a:solidFill>
          <a:ln w="7620">
            <a:solidFill>
              <a:srgbClr val="F43F5E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88920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86384" y="27523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Medical AI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(Clinical)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1709928" y="2715768"/>
            <a:ext cx="1773936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764792" y="275234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✅ Current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patient visit</a:t>
            </a:r>
            <a:endParaRPr lang="en-US" sz="780" dirty="0"/>
          </a:p>
        </p:txBody>
      </p:sp>
      <p:sp>
        <p:nvSpPr>
          <p:cNvPr id="35" name="Shape 31"/>
          <p:cNvSpPr/>
          <p:nvPr/>
        </p:nvSpPr>
        <p:spPr>
          <a:xfrm>
            <a:off x="3520440" y="2715768"/>
            <a:ext cx="1773936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520440" y="2715768"/>
            <a:ext cx="1773936" cy="402336"/>
          </a:xfrm>
          <a:prstGeom prst="rect">
            <a:avLst/>
          </a:prstGeom>
          <a:solidFill>
            <a:srgbClr val="06B6D4">
              <a:alpha val="12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575304" y="275234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★  Full patient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history (critical!)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5330952" y="2715768"/>
            <a:ext cx="1773936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385816" y="275234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✅ Medical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knowledge</a:t>
            </a:r>
            <a:endParaRPr lang="en-US" sz="780" dirty="0"/>
          </a:p>
        </p:txBody>
      </p:sp>
      <p:sp>
        <p:nvSpPr>
          <p:cNvPr id="40" name="Shape 36"/>
          <p:cNvSpPr/>
          <p:nvPr/>
        </p:nvSpPr>
        <p:spPr>
          <a:xfrm>
            <a:off x="7141464" y="2715768"/>
            <a:ext cx="1773936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196328" y="275234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✅ Latest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research / drugs</a:t>
            </a:r>
            <a:endParaRPr lang="en-US" sz="780" dirty="0"/>
          </a:p>
        </p:txBody>
      </p:sp>
      <p:sp>
        <p:nvSpPr>
          <p:cNvPr id="42" name="Shape 38"/>
          <p:cNvSpPr/>
          <p:nvPr/>
        </p:nvSpPr>
        <p:spPr>
          <a:xfrm>
            <a:off x="384048" y="3154680"/>
            <a:ext cx="1325880" cy="402336"/>
          </a:xfrm>
          <a:prstGeom prst="rect">
            <a:avLst/>
          </a:prstGeom>
          <a:solidFill>
            <a:srgbClr val="F59E0B">
              <a:alpha val="12000"/>
            </a:srgbClr>
          </a:solidFill>
          <a:ln w="7620">
            <a:solidFill>
              <a:srgbClr val="F59E0B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27832"/>
            <a:ext cx="274320" cy="27432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786384" y="31912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Legal AI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(Contract)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1709928" y="3154680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1764792" y="319125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✅ Current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document</a:t>
            </a:r>
            <a:endParaRPr lang="en-US" sz="780" dirty="0"/>
          </a:p>
        </p:txBody>
      </p:sp>
      <p:sp>
        <p:nvSpPr>
          <p:cNvPr id="47" name="Shape 42"/>
          <p:cNvSpPr/>
          <p:nvPr/>
        </p:nvSpPr>
        <p:spPr>
          <a:xfrm>
            <a:off x="3520440" y="3154680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3575304" y="319125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⭕ Prior case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strategy</a:t>
            </a:r>
            <a:endParaRPr lang="en-US" sz="780" dirty="0"/>
          </a:p>
        </p:txBody>
      </p:sp>
      <p:sp>
        <p:nvSpPr>
          <p:cNvPr id="49" name="Shape 44"/>
          <p:cNvSpPr/>
          <p:nvPr/>
        </p:nvSpPr>
        <p:spPr>
          <a:xfrm>
            <a:off x="5330952" y="3154680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385816" y="319125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✅ Legal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precedents</a:t>
            </a:r>
            <a:endParaRPr lang="en-US" sz="780" dirty="0"/>
          </a:p>
        </p:txBody>
      </p:sp>
      <p:sp>
        <p:nvSpPr>
          <p:cNvPr id="51" name="Shape 46"/>
          <p:cNvSpPr/>
          <p:nvPr/>
        </p:nvSpPr>
        <p:spPr>
          <a:xfrm>
            <a:off x="7141464" y="3154680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7141464" y="3154680"/>
            <a:ext cx="1773936" cy="402336"/>
          </a:xfrm>
          <a:prstGeom prst="rect">
            <a:avLst/>
          </a:prstGeom>
          <a:solidFill>
            <a:srgbClr val="F59E0B">
              <a:alpha val="12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196328" y="319125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★  Case law,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past contracts</a:t>
            </a:r>
            <a:endParaRPr lang="en-US" sz="780" dirty="0"/>
          </a:p>
        </p:txBody>
      </p:sp>
      <p:sp>
        <p:nvSpPr>
          <p:cNvPr id="54" name="Shape 49"/>
          <p:cNvSpPr/>
          <p:nvPr/>
        </p:nvSpPr>
        <p:spPr>
          <a:xfrm>
            <a:off x="384048" y="3593592"/>
            <a:ext cx="1325880" cy="402336"/>
          </a:xfrm>
          <a:prstGeom prst="rect">
            <a:avLst/>
          </a:prstGeom>
          <a:solidFill>
            <a:srgbClr val="8B5CF6">
              <a:alpha val="12000"/>
            </a:srgbClr>
          </a:solidFill>
          <a:ln w="7620">
            <a:solidFill>
              <a:srgbClr val="8B5CF6"/>
            </a:solidFill>
            <a:prstDash val="solid"/>
          </a:ln>
        </p:spPr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66744"/>
            <a:ext cx="274320" cy="274320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786384" y="36301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AI Customer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Support</a:t>
            </a:r>
            <a:endParaRPr lang="en-US" sz="850" dirty="0"/>
          </a:p>
        </p:txBody>
      </p:sp>
      <p:sp>
        <p:nvSpPr>
          <p:cNvPr id="57" name="Shape 51"/>
          <p:cNvSpPr/>
          <p:nvPr/>
        </p:nvSpPr>
        <p:spPr>
          <a:xfrm>
            <a:off x="1709928" y="3593592"/>
            <a:ext cx="1773936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1764792" y="363016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✅ Current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ticket / query</a:t>
            </a:r>
            <a:endParaRPr lang="en-US" sz="780" dirty="0"/>
          </a:p>
        </p:txBody>
      </p:sp>
      <p:sp>
        <p:nvSpPr>
          <p:cNvPr id="59" name="Shape 53"/>
          <p:cNvSpPr/>
          <p:nvPr/>
        </p:nvSpPr>
        <p:spPr>
          <a:xfrm>
            <a:off x="3520440" y="3593592"/>
            <a:ext cx="1773936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3520440" y="3593592"/>
            <a:ext cx="1773936" cy="402336"/>
          </a:xfrm>
          <a:prstGeom prst="rect">
            <a:avLst/>
          </a:prstGeom>
          <a:solidFill>
            <a:srgbClr val="06B6D4">
              <a:alpha val="12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3575304" y="363016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★  Customer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history, past issues</a:t>
            </a:r>
            <a:endParaRPr lang="en-US" sz="780" dirty="0"/>
          </a:p>
        </p:txBody>
      </p:sp>
      <p:sp>
        <p:nvSpPr>
          <p:cNvPr id="62" name="Shape 56"/>
          <p:cNvSpPr/>
          <p:nvPr/>
        </p:nvSpPr>
        <p:spPr>
          <a:xfrm>
            <a:off x="5330952" y="3593592"/>
            <a:ext cx="1773936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5385816" y="363016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✅ Product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knowledge</a:t>
            </a:r>
            <a:endParaRPr lang="en-US" sz="780" dirty="0"/>
          </a:p>
        </p:txBody>
      </p:sp>
      <p:sp>
        <p:nvSpPr>
          <p:cNvPr id="64" name="Shape 58"/>
          <p:cNvSpPr/>
          <p:nvPr/>
        </p:nvSpPr>
        <p:spPr>
          <a:xfrm>
            <a:off x="7141464" y="3593592"/>
            <a:ext cx="1773936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7196328" y="363016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✅ Live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inventory / docs</a:t>
            </a:r>
            <a:endParaRPr lang="en-US" sz="780" dirty="0"/>
          </a:p>
        </p:txBody>
      </p:sp>
      <p:sp>
        <p:nvSpPr>
          <p:cNvPr id="66" name="Shape 60"/>
          <p:cNvSpPr/>
          <p:nvPr/>
        </p:nvSpPr>
        <p:spPr>
          <a:xfrm>
            <a:off x="384048" y="4032504"/>
            <a:ext cx="1325880" cy="402336"/>
          </a:xfrm>
          <a:prstGeom prst="rect">
            <a:avLst/>
          </a:prstGeom>
          <a:solidFill>
            <a:srgbClr val="10B981">
              <a:alpha val="12000"/>
            </a:srgbClr>
          </a:solidFill>
          <a:ln w="7620">
            <a:solidFill>
              <a:srgbClr val="10B981"/>
            </a:solidFill>
            <a:prstDash val="solid"/>
          </a:ln>
        </p:spPr>
      </p:sp>
      <p:pic>
        <p:nvPicPr>
          <p:cNvPr id="6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05656"/>
            <a:ext cx="274320" cy="274320"/>
          </a:xfrm>
          <a:prstGeom prst="rect">
            <a:avLst/>
          </a:prstGeom>
        </p:spPr>
      </p:pic>
      <p:sp>
        <p:nvSpPr>
          <p:cNvPr id="68" name="Text 61"/>
          <p:cNvSpPr/>
          <p:nvPr/>
        </p:nvSpPr>
        <p:spPr>
          <a:xfrm>
            <a:off x="786384" y="40690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AI Tutor /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Education</a:t>
            </a:r>
            <a:endParaRPr lang="en-US" sz="850" dirty="0"/>
          </a:p>
        </p:txBody>
      </p:sp>
      <p:sp>
        <p:nvSpPr>
          <p:cNvPr id="69" name="Shape 62"/>
          <p:cNvSpPr/>
          <p:nvPr/>
        </p:nvSpPr>
        <p:spPr>
          <a:xfrm>
            <a:off x="1709928" y="4032504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3"/>
          <p:cNvSpPr/>
          <p:nvPr/>
        </p:nvSpPr>
        <p:spPr>
          <a:xfrm>
            <a:off x="1764792" y="40690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✅ Current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explanation</a:t>
            </a:r>
            <a:endParaRPr lang="en-US" sz="780" dirty="0"/>
          </a:p>
        </p:txBody>
      </p:sp>
      <p:sp>
        <p:nvSpPr>
          <p:cNvPr id="71" name="Shape 64"/>
          <p:cNvSpPr/>
          <p:nvPr/>
        </p:nvSpPr>
        <p:spPr>
          <a:xfrm>
            <a:off x="3520440" y="4032504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3520440" y="4032504"/>
            <a:ext cx="1773936" cy="402336"/>
          </a:xfrm>
          <a:prstGeom prst="rect">
            <a:avLst/>
          </a:prstGeom>
          <a:solidFill>
            <a:srgbClr val="06B6D4">
              <a:alpha val="12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73" name="Text 66"/>
          <p:cNvSpPr/>
          <p:nvPr/>
        </p:nvSpPr>
        <p:spPr>
          <a:xfrm>
            <a:off x="3575304" y="40690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★  Student's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learning history</a:t>
            </a:r>
            <a:endParaRPr lang="en-US" sz="780" dirty="0"/>
          </a:p>
        </p:txBody>
      </p:sp>
      <p:sp>
        <p:nvSpPr>
          <p:cNvPr id="74" name="Shape 67"/>
          <p:cNvSpPr/>
          <p:nvPr/>
        </p:nvSpPr>
        <p:spPr>
          <a:xfrm>
            <a:off x="5330952" y="4032504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5385816" y="40690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✅ Subject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knowledge</a:t>
            </a:r>
            <a:endParaRPr lang="en-US" sz="780" dirty="0"/>
          </a:p>
        </p:txBody>
      </p:sp>
      <p:sp>
        <p:nvSpPr>
          <p:cNvPr id="76" name="Shape 69"/>
          <p:cNvSpPr/>
          <p:nvPr/>
        </p:nvSpPr>
        <p:spPr>
          <a:xfrm>
            <a:off x="7141464" y="4032504"/>
            <a:ext cx="1773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0"/>
          <p:cNvSpPr/>
          <p:nvPr/>
        </p:nvSpPr>
        <p:spPr>
          <a:xfrm>
            <a:off x="7196328" y="40690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⭕ Latest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curriculum</a:t>
            </a:r>
            <a:endParaRPr lang="en-US" sz="780" dirty="0"/>
          </a:p>
        </p:txBody>
      </p:sp>
      <p:sp>
        <p:nvSpPr>
          <p:cNvPr id="78" name="Shape 71"/>
          <p:cNvSpPr/>
          <p:nvPr/>
        </p:nvSpPr>
        <p:spPr>
          <a:xfrm>
            <a:off x="384048" y="4471416"/>
            <a:ext cx="1325880" cy="402336"/>
          </a:xfrm>
          <a:prstGeom prst="rect">
            <a:avLst/>
          </a:prstGeom>
          <a:solidFill>
            <a:srgbClr val="06B6D4">
              <a:alpha val="12000"/>
            </a:srgbClr>
          </a:solidFill>
          <a:ln w="7620">
            <a:solidFill>
              <a:srgbClr val="06B6D4"/>
            </a:solidFill>
            <a:prstDash val="solid"/>
          </a:ln>
        </p:spPr>
      </p:sp>
      <p:pic>
        <p:nvPicPr>
          <p:cNvPr id="7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544568"/>
            <a:ext cx="274320" cy="274320"/>
          </a:xfrm>
          <a:prstGeom prst="rect">
            <a:avLst/>
          </a:prstGeom>
        </p:spPr>
      </p:pic>
      <p:sp>
        <p:nvSpPr>
          <p:cNvPr id="80" name="Text 72"/>
          <p:cNvSpPr/>
          <p:nvPr/>
        </p:nvSpPr>
        <p:spPr>
          <a:xfrm>
            <a:off x="786384" y="450799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Video AI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(Multi-modal)</a:t>
            </a:r>
            <a:endParaRPr lang="en-US" sz="850" dirty="0"/>
          </a:p>
        </p:txBody>
      </p:sp>
      <p:sp>
        <p:nvSpPr>
          <p:cNvPr id="81" name="Shape 73"/>
          <p:cNvSpPr/>
          <p:nvPr/>
        </p:nvSpPr>
        <p:spPr>
          <a:xfrm>
            <a:off x="1709928" y="4471416"/>
            <a:ext cx="1773936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Shape 74"/>
          <p:cNvSpPr/>
          <p:nvPr/>
        </p:nvSpPr>
        <p:spPr>
          <a:xfrm>
            <a:off x="1709928" y="4471416"/>
            <a:ext cx="1773936" cy="402336"/>
          </a:xfrm>
          <a:prstGeom prst="rect">
            <a:avLst/>
          </a:prstGeom>
          <a:solidFill>
            <a:srgbClr val="38BDF8">
              <a:alpha val="12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83" name="Text 75"/>
          <p:cNvSpPr/>
          <p:nvPr/>
        </p:nvSpPr>
        <p:spPr>
          <a:xfrm>
            <a:off x="1764792" y="45079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★  Current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scene/frame</a:t>
            </a:r>
            <a:endParaRPr lang="en-US" sz="780" dirty="0"/>
          </a:p>
        </p:txBody>
      </p:sp>
      <p:sp>
        <p:nvSpPr>
          <p:cNvPr id="84" name="Shape 76"/>
          <p:cNvSpPr/>
          <p:nvPr/>
        </p:nvSpPr>
        <p:spPr>
          <a:xfrm>
            <a:off x="3520440" y="4471416"/>
            <a:ext cx="1773936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77"/>
          <p:cNvSpPr/>
          <p:nvPr/>
        </p:nvSpPr>
        <p:spPr>
          <a:xfrm>
            <a:off x="3575304" y="45079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⭕ Earlier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scenes/chapters</a:t>
            </a:r>
            <a:endParaRPr lang="en-US" sz="780" dirty="0"/>
          </a:p>
        </p:txBody>
      </p:sp>
      <p:sp>
        <p:nvSpPr>
          <p:cNvPr id="86" name="Shape 78"/>
          <p:cNvSpPr/>
          <p:nvPr/>
        </p:nvSpPr>
        <p:spPr>
          <a:xfrm>
            <a:off x="5330952" y="4471416"/>
            <a:ext cx="1773936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79"/>
          <p:cNvSpPr/>
          <p:nvPr/>
        </p:nvSpPr>
        <p:spPr>
          <a:xfrm>
            <a:off x="5385816" y="45079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✅ Visual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language</a:t>
            </a:r>
            <a:endParaRPr lang="en-US" sz="780" dirty="0"/>
          </a:p>
        </p:txBody>
      </p:sp>
      <p:sp>
        <p:nvSpPr>
          <p:cNvPr id="88" name="Shape 80"/>
          <p:cNvSpPr/>
          <p:nvPr/>
        </p:nvSpPr>
        <p:spPr>
          <a:xfrm>
            <a:off x="7141464" y="4471416"/>
            <a:ext cx="1773936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1"/>
          <p:cNvSpPr/>
          <p:nvPr/>
        </p:nvSpPr>
        <p:spPr>
          <a:xfrm>
            <a:off x="7196328" y="45079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⭕ Video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index/captions</a:t>
            </a:r>
            <a:endParaRPr lang="en-US" sz="780" dirty="0"/>
          </a:p>
        </p:txBody>
      </p:sp>
      <p:sp>
        <p:nvSpPr>
          <p:cNvPr id="90" name="Text 82"/>
          <p:cNvSpPr/>
          <p:nvPr/>
        </p:nvSpPr>
        <p:spPr>
          <a:xfrm>
            <a:off x="384048" y="4956048"/>
            <a:ext cx="8375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★ = Critical / must-have   ✅ = Important   ⭕ = Optional / situational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8229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66928"/>
            <a:ext cx="141732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</a:rPr>
              <a:t>APPLICATIONS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Memory in the Real World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167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What breaks without memory — and what becomes possible when AI remembers.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664208"/>
            <a:ext cx="2578608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664208"/>
            <a:ext cx="2578608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7556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" y="175564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Coding Assistant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" y="2075688"/>
            <a:ext cx="45720" cy="402336"/>
          </a:xfrm>
          <a:prstGeom prst="rect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207568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43F5E"/>
                </a:solidFill>
              </a:rPr>
              <a:t>WITHOUT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66928" y="2231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Forgets your codebase, repeats suggestions you've already rejected, can't recall a design decision made last week.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75488" y="2615184"/>
            <a:ext cx="45720" cy="402336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2615184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WITH MEMORY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566928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Remembers your architecture, past bugs, coding style, and team conventions across every session.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84048" y="3090672"/>
            <a:ext cx="2578608" cy="201168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0906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1E293B"/>
                </a:solidFill>
              </a:rPr>
              <a:t>Episodic + Working  ·  GitHub Copilot, Cursor, Devin, Claude Code</a:t>
            </a:r>
            <a:endParaRPr lang="en-US" sz="620" dirty="0"/>
          </a:p>
        </p:txBody>
      </p:sp>
      <p:sp>
        <p:nvSpPr>
          <p:cNvPr id="19" name="Shape 16"/>
          <p:cNvSpPr/>
          <p:nvPr/>
        </p:nvSpPr>
        <p:spPr>
          <a:xfrm>
            <a:off x="3127248" y="1664208"/>
            <a:ext cx="2578608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127248" y="1664208"/>
            <a:ext cx="2578608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755648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529584" y="175564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Medical AI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218688" y="2075688"/>
            <a:ext cx="45720" cy="402336"/>
          </a:xfrm>
          <a:prstGeom prst="rect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10128" y="207568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43F5E"/>
                </a:solidFill>
              </a:rPr>
              <a:t>WITHOUT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3310128" y="2231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Every patient visit starts from scratch. Doctor must re-enter allergies and medications manually. Critical history gets missed.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3218688" y="2615184"/>
            <a:ext cx="45720" cy="402336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10128" y="2615184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WITH MEMORY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3310128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Maintains a full longitudinal patient profile — reactions, treatment history, lab results — across every visit.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3127248" y="3090672"/>
            <a:ext cx="2578608" cy="201168"/>
          </a:xfrm>
          <a:prstGeom prst="rect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200400" y="30906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1E293B"/>
                </a:solidFill>
              </a:rPr>
              <a:t>Episodic + External  ·  Nabla, Abridge, DAX Copilot, Suki</a:t>
            </a:r>
            <a:endParaRPr lang="en-US" sz="620" dirty="0"/>
          </a:p>
        </p:txBody>
      </p:sp>
      <p:sp>
        <p:nvSpPr>
          <p:cNvPr id="31" name="Shape 27"/>
          <p:cNvSpPr/>
          <p:nvPr/>
        </p:nvSpPr>
        <p:spPr>
          <a:xfrm>
            <a:off x="5870448" y="1664208"/>
            <a:ext cx="2578608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870448" y="1664208"/>
            <a:ext cx="25786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1755648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272784" y="175564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Legal AI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5961888" y="2075688"/>
            <a:ext cx="45720" cy="402336"/>
          </a:xfrm>
          <a:prstGeom prst="rect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053328" y="207568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43F5E"/>
                </a:solidFill>
              </a:rPr>
              <a:t>WITHOUT</a:t>
            </a:r>
            <a:endParaRPr lang="en-US" sz="650" dirty="0"/>
          </a:p>
        </p:txBody>
      </p:sp>
      <p:sp>
        <p:nvSpPr>
          <p:cNvPr id="37" name="Text 32"/>
          <p:cNvSpPr/>
          <p:nvPr/>
        </p:nvSpPr>
        <p:spPr>
          <a:xfrm>
            <a:off x="6053328" y="2231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Can only analyze one document at a time. Misses patterns across a 500-page contract or years of case history.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5961888" y="2615184"/>
            <a:ext cx="45720" cy="402336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053328" y="2615184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WITH MEMORY</a:t>
            </a:r>
            <a:endParaRPr lang="en-US" sz="650" dirty="0"/>
          </a:p>
        </p:txBody>
      </p:sp>
      <p:sp>
        <p:nvSpPr>
          <p:cNvPr id="40" name="Text 35"/>
          <p:cNvSpPr/>
          <p:nvPr/>
        </p:nvSpPr>
        <p:spPr>
          <a:xfrm>
            <a:off x="6053328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Reasons across hundreds of documents. Recalls prior strategy and relevant precedents from the firm's full history.</a:t>
            </a:r>
            <a:endParaRPr lang="en-US" sz="750" dirty="0"/>
          </a:p>
        </p:txBody>
      </p:sp>
      <p:sp>
        <p:nvSpPr>
          <p:cNvPr id="41" name="Shape 36"/>
          <p:cNvSpPr/>
          <p:nvPr/>
        </p:nvSpPr>
        <p:spPr>
          <a:xfrm>
            <a:off x="5870448" y="3090672"/>
            <a:ext cx="2578608" cy="2011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943600" y="30906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1E293B"/>
                </a:solidFill>
              </a:rPr>
              <a:t>External + Working  ·  Harvey AI, Casetext, Spellbook, Ironclad</a:t>
            </a:r>
            <a:endParaRPr lang="en-US" sz="620" dirty="0"/>
          </a:p>
        </p:txBody>
      </p:sp>
      <p:sp>
        <p:nvSpPr>
          <p:cNvPr id="43" name="Shape 38"/>
          <p:cNvSpPr/>
          <p:nvPr/>
        </p:nvSpPr>
        <p:spPr>
          <a:xfrm>
            <a:off x="384048" y="3346704"/>
            <a:ext cx="2578608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384048" y="3346704"/>
            <a:ext cx="25786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438144"/>
            <a:ext cx="256032" cy="256032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86384" y="343814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AI Customer Support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475488" y="3758184"/>
            <a:ext cx="45720" cy="402336"/>
          </a:xfrm>
          <a:prstGeom prst="rect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66928" y="375818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43F5E"/>
                </a:solidFill>
              </a:rPr>
              <a:t>WITHOUT</a:t>
            </a:r>
            <a:endParaRPr lang="en-US" sz="650" dirty="0"/>
          </a:p>
        </p:txBody>
      </p:sp>
      <p:sp>
        <p:nvSpPr>
          <p:cNvPr id="49" name="Text 43"/>
          <p:cNvSpPr/>
          <p:nvPr/>
        </p:nvSpPr>
        <p:spPr>
          <a:xfrm>
            <a:off x="566928" y="3913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Asks customers to repeat their problem every time. No awareness of past tickets, purchase history, or frustrations.</a:t>
            </a:r>
            <a:endParaRPr lang="en-US" sz="750" dirty="0"/>
          </a:p>
        </p:txBody>
      </p:sp>
      <p:sp>
        <p:nvSpPr>
          <p:cNvPr id="50" name="Shape 44"/>
          <p:cNvSpPr/>
          <p:nvPr/>
        </p:nvSpPr>
        <p:spPr>
          <a:xfrm>
            <a:off x="475488" y="4297680"/>
            <a:ext cx="45720" cy="402336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566928" y="4297680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WITH MEMORY</a:t>
            </a:r>
            <a:endParaRPr lang="en-US" sz="650" dirty="0"/>
          </a:p>
        </p:txBody>
      </p:sp>
      <p:sp>
        <p:nvSpPr>
          <p:cNvPr id="52" name="Text 46"/>
          <p:cNvSpPr/>
          <p:nvPr/>
        </p:nvSpPr>
        <p:spPr>
          <a:xfrm>
            <a:off x="566928" y="4453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Knows the customer's history instantly. Tailors every response to their tier, past issues, and preferences.</a:t>
            </a:r>
            <a:endParaRPr lang="en-US" sz="750" dirty="0"/>
          </a:p>
        </p:txBody>
      </p:sp>
      <p:sp>
        <p:nvSpPr>
          <p:cNvPr id="53" name="Shape 47"/>
          <p:cNvSpPr/>
          <p:nvPr/>
        </p:nvSpPr>
        <p:spPr>
          <a:xfrm>
            <a:off x="384048" y="4773168"/>
            <a:ext cx="2578608" cy="201168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457200" y="47731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1E293B"/>
                </a:solidFill>
              </a:rPr>
              <a:t>Episodic + Semantic  ·  Intercom Fin, Zendesk AI, Salesforce Einstein</a:t>
            </a:r>
            <a:endParaRPr lang="en-US" sz="620" dirty="0"/>
          </a:p>
        </p:txBody>
      </p:sp>
      <p:sp>
        <p:nvSpPr>
          <p:cNvPr id="55" name="Shape 49"/>
          <p:cNvSpPr/>
          <p:nvPr/>
        </p:nvSpPr>
        <p:spPr>
          <a:xfrm>
            <a:off x="3127248" y="3346704"/>
            <a:ext cx="2578608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0"/>
          <p:cNvSpPr/>
          <p:nvPr/>
        </p:nvSpPr>
        <p:spPr>
          <a:xfrm>
            <a:off x="3127248" y="3346704"/>
            <a:ext cx="25786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3438144"/>
            <a:ext cx="256032" cy="256032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3529584" y="343814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Video AI (Multi-modal)</a:t>
            </a:r>
            <a:endParaRPr lang="en-US" sz="1050" dirty="0"/>
          </a:p>
        </p:txBody>
      </p:sp>
      <p:sp>
        <p:nvSpPr>
          <p:cNvPr id="59" name="Shape 52"/>
          <p:cNvSpPr/>
          <p:nvPr/>
        </p:nvSpPr>
        <p:spPr>
          <a:xfrm>
            <a:off x="3218688" y="3758184"/>
            <a:ext cx="45720" cy="402336"/>
          </a:xfrm>
          <a:prstGeom prst="rect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3310128" y="375818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43F5E"/>
                </a:solidFill>
              </a:rPr>
              <a:t>WITHOUT</a:t>
            </a:r>
            <a:endParaRPr lang="en-US" sz="650" dirty="0"/>
          </a:p>
        </p:txBody>
      </p:sp>
      <p:sp>
        <p:nvSpPr>
          <p:cNvPr id="61" name="Text 54"/>
          <p:cNvSpPr/>
          <p:nvPr/>
        </p:nvSpPr>
        <p:spPr>
          <a:xfrm>
            <a:off x="3310128" y="3913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Can't analyze a 2-hour video — only short clips fit in context. Loses track of characters and events in long content.</a:t>
            </a:r>
            <a:endParaRPr lang="en-US" sz="750" dirty="0"/>
          </a:p>
        </p:txBody>
      </p:sp>
      <p:sp>
        <p:nvSpPr>
          <p:cNvPr id="62" name="Shape 55"/>
          <p:cNvSpPr/>
          <p:nvPr/>
        </p:nvSpPr>
        <p:spPr>
          <a:xfrm>
            <a:off x="3218688" y="4297680"/>
            <a:ext cx="45720" cy="402336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3310128" y="4297680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WITH MEMORY</a:t>
            </a:r>
            <a:endParaRPr lang="en-US" sz="650" dirty="0"/>
          </a:p>
        </p:txBody>
      </p:sp>
      <p:sp>
        <p:nvSpPr>
          <p:cNvPr id="64" name="Text 57"/>
          <p:cNvSpPr/>
          <p:nvPr/>
        </p:nvSpPr>
        <p:spPr>
          <a:xfrm>
            <a:off x="3310128" y="4453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Scene-level memory indexes the full video. Recalls minute 12 events when answering a question about minute 90.</a:t>
            </a:r>
            <a:endParaRPr lang="en-US" sz="750" dirty="0"/>
          </a:p>
        </p:txBody>
      </p:sp>
      <p:sp>
        <p:nvSpPr>
          <p:cNvPr id="65" name="Shape 58"/>
          <p:cNvSpPr/>
          <p:nvPr/>
        </p:nvSpPr>
        <p:spPr>
          <a:xfrm>
            <a:off x="3127248" y="4773168"/>
            <a:ext cx="2578608" cy="201168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3200400" y="47731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1E293B"/>
                </a:solidFill>
              </a:rPr>
              <a:t>Working + External  ·  Gemini 1.5 Pro, GPT-4o, Twelve Labs</a:t>
            </a:r>
            <a:endParaRPr lang="en-US" sz="620" dirty="0"/>
          </a:p>
        </p:txBody>
      </p:sp>
      <p:sp>
        <p:nvSpPr>
          <p:cNvPr id="67" name="Shape 60"/>
          <p:cNvSpPr/>
          <p:nvPr/>
        </p:nvSpPr>
        <p:spPr>
          <a:xfrm>
            <a:off x="5870448" y="3346704"/>
            <a:ext cx="2578608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8" name="Shape 61"/>
          <p:cNvSpPr/>
          <p:nvPr/>
        </p:nvSpPr>
        <p:spPr>
          <a:xfrm>
            <a:off x="5870448" y="3346704"/>
            <a:ext cx="257860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6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3438144"/>
            <a:ext cx="256032" cy="256032"/>
          </a:xfrm>
          <a:prstGeom prst="rect">
            <a:avLst/>
          </a:prstGeom>
        </p:spPr>
      </p:pic>
      <p:sp>
        <p:nvSpPr>
          <p:cNvPr id="70" name="Text 62"/>
          <p:cNvSpPr/>
          <p:nvPr/>
        </p:nvSpPr>
        <p:spPr>
          <a:xfrm>
            <a:off x="6272784" y="343814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AI Tutor / Education</a:t>
            </a:r>
            <a:endParaRPr lang="en-US" sz="1050" dirty="0"/>
          </a:p>
        </p:txBody>
      </p:sp>
      <p:sp>
        <p:nvSpPr>
          <p:cNvPr id="71" name="Shape 63"/>
          <p:cNvSpPr/>
          <p:nvPr/>
        </p:nvSpPr>
        <p:spPr>
          <a:xfrm>
            <a:off x="5961888" y="3758184"/>
            <a:ext cx="45720" cy="402336"/>
          </a:xfrm>
          <a:prstGeom prst="rect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2" name="Text 64"/>
          <p:cNvSpPr/>
          <p:nvPr/>
        </p:nvSpPr>
        <p:spPr>
          <a:xfrm>
            <a:off x="6053328" y="375818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43F5E"/>
                </a:solidFill>
              </a:rPr>
              <a:t>WITHOUT</a:t>
            </a:r>
            <a:endParaRPr lang="en-US" sz="650" dirty="0"/>
          </a:p>
        </p:txBody>
      </p:sp>
      <p:sp>
        <p:nvSpPr>
          <p:cNvPr id="73" name="Text 65"/>
          <p:cNvSpPr/>
          <p:nvPr/>
        </p:nvSpPr>
        <p:spPr>
          <a:xfrm>
            <a:off x="6053328" y="3913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Re-teaches concepts the student already mastered. Can't adapt pacing to individual learning gaps over time.</a:t>
            </a:r>
            <a:endParaRPr lang="en-US" sz="750" dirty="0"/>
          </a:p>
        </p:txBody>
      </p:sp>
      <p:sp>
        <p:nvSpPr>
          <p:cNvPr id="74" name="Shape 66"/>
          <p:cNvSpPr/>
          <p:nvPr/>
        </p:nvSpPr>
        <p:spPr>
          <a:xfrm>
            <a:off x="5961888" y="4297680"/>
            <a:ext cx="45720" cy="402336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5" name="Text 67"/>
          <p:cNvSpPr/>
          <p:nvPr/>
        </p:nvSpPr>
        <p:spPr>
          <a:xfrm>
            <a:off x="6053328" y="4297680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WITH MEMORY</a:t>
            </a:r>
            <a:endParaRPr lang="en-US" sz="650" dirty="0"/>
          </a:p>
        </p:txBody>
      </p:sp>
      <p:sp>
        <p:nvSpPr>
          <p:cNvPr id="76" name="Text 68"/>
          <p:cNvSpPr/>
          <p:nvPr/>
        </p:nvSpPr>
        <p:spPr>
          <a:xfrm>
            <a:off x="6053328" y="4453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Tracks each student's progress and struggles across weeks. Personalizes every lesson to exactly where they are.</a:t>
            </a:r>
            <a:endParaRPr lang="en-US" sz="750" dirty="0"/>
          </a:p>
        </p:txBody>
      </p:sp>
      <p:sp>
        <p:nvSpPr>
          <p:cNvPr id="77" name="Shape 69"/>
          <p:cNvSpPr/>
          <p:nvPr/>
        </p:nvSpPr>
        <p:spPr>
          <a:xfrm>
            <a:off x="5870448" y="4773168"/>
            <a:ext cx="2578608" cy="20116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8" name="Text 70"/>
          <p:cNvSpPr/>
          <p:nvPr/>
        </p:nvSpPr>
        <p:spPr>
          <a:xfrm>
            <a:off x="5943600" y="47731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1E293B"/>
                </a:solidFill>
              </a:rPr>
              <a:t>Episodic + Semantic  ·  Khan Academy Khanmigo, Duolingo AI, Socratic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17320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</a:rPr>
              <a:t>SOLUTIONS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 Ways AI Systems Handle Memory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2743200" cy="1920240"/>
          </a:xfrm>
          <a:prstGeom prst="rect">
            <a:avLst/>
          </a:prstGeom>
          <a:solidFill>
            <a:srgbClr val="0F2040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05840"/>
            <a:ext cx="27432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2416" y="1115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Bigger Context Windows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2416" y="1463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BDF8"/>
                </a:solidFill>
              </a:rPr>
              <a:t>Flash Attention, Sparse Attention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12064" y="1773936"/>
            <a:ext cx="2487168" cy="9144"/>
          </a:xfrm>
          <a:prstGeom prst="rect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82880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Extend how much text the AI can 'see' at once — like giving someone a bigger desk to spread papers on. Modern techniques handle up to 2 million tokens (≈1,500 pages).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1005840"/>
            <a:ext cx="2743200" cy="1920240"/>
          </a:xfrm>
          <a:prstGeom prst="rect">
            <a:avLst/>
          </a:prstGeom>
          <a:solidFill>
            <a:srgbClr val="0F204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00584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77056" y="1115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 &amp; Retrieve (RAG)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77056" y="1463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</a:rPr>
              <a:t>Retrieval-Augmented Generation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46704" y="1773936"/>
            <a:ext cx="2487168" cy="9144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182880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AI searches an external database for relevant facts before answering — like a doctor checking their notes before a patient visit. Scales to any document size.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53328" y="1005840"/>
            <a:ext cx="2706624" cy="1920240"/>
          </a:xfrm>
          <a:prstGeom prst="rect">
            <a:avLst/>
          </a:prstGeom>
          <a:solidFill>
            <a:srgbClr val="0F204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53328" y="1005840"/>
            <a:ext cx="2706624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11696" y="1115568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Persistent Memory Stores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11696" y="146304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Zep, Mem0, MemGPT, Knowledge Graphs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81344" y="1773936"/>
            <a:ext cx="2450592" cy="914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1828800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Dedicated systems that store and organize everything the AI has seen — conversations, facts, preferences — and surface them intelligently on demand.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" y="3044952"/>
            <a:ext cx="4160520" cy="1920240"/>
          </a:xfrm>
          <a:prstGeom prst="rect">
            <a:avLst/>
          </a:prstGeom>
          <a:solidFill>
            <a:srgbClr val="0F2040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3044952"/>
            <a:ext cx="416052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3136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42416" y="31546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Step-by-Step Reasoning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42416" y="3502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</a:rPr>
              <a:t>Chain-of-Thought, Extended Thinking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" y="3813048"/>
            <a:ext cx="3904488" cy="9144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3867912"/>
            <a:ext cx="3904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Training AI to work through problems one step at a time — like showing your work on a math test. Keeps complex reasoning on track even over many steps.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36008" y="3044952"/>
            <a:ext cx="4123944" cy="1920240"/>
          </a:xfrm>
          <a:prstGeom prst="rect">
            <a:avLst/>
          </a:prstGeom>
          <a:solidFill>
            <a:srgbClr val="0F2040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36008" y="3044952"/>
            <a:ext cx="4123944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4024" y="3136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05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294376" y="3154680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New Model Architectures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94376" y="350215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5CF6"/>
                </a:solidFill>
              </a:rPr>
              <a:t>Mamba, RWKV — much lower memory cost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64024" y="3813048"/>
            <a:ext cx="3867912" cy="9144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64024" y="3867912"/>
            <a:ext cx="3867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Entirely new AI designs that process long sequences without the memory explosion of traditional models. Like switching from a filing cabinet to a streaming database — same information, far less space.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1732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</a:rPr>
              <a:t>ECOSYSTEM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AI Memory Product Landscape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2651760" cy="347472"/>
          </a:xfrm>
          <a:prstGeom prst="rect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3327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MEMORY MIDDLEWARE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5488" y="118872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</a:rPr>
              <a:t>Dedicated memory layer for AI apps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1399032"/>
            <a:ext cx="2651760" cy="1847088"/>
          </a:xfrm>
          <a:prstGeom prst="rect">
            <a:avLst/>
          </a:prstGeom>
          <a:solidFill>
            <a:srgbClr val="0F2040"/>
          </a:solidFill>
          <a:ln w="1016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399032"/>
            <a:ext cx="26517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4904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Zep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41448" y="1527048"/>
            <a:ext cx="502920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15270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</a:rPr>
              <a:t>HOT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93776" y="18379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Open Core / Cloud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6" y="2020824"/>
            <a:ext cx="24688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Temporal knowledge graph (Graphiti) over conversation history. Entity extraction, relationship tracking, temporal queries. Self-hostable.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3300984"/>
            <a:ext cx="2651760" cy="1847088"/>
          </a:xfrm>
          <a:prstGeom prst="rect">
            <a:avLst/>
          </a:prstGeom>
          <a:solidFill>
            <a:srgbClr val="0F2040"/>
          </a:solidFill>
          <a:ln w="1016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300984"/>
            <a:ext cx="26517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33924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Mem0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441448" y="3429000"/>
            <a:ext cx="502920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3429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</a:rPr>
              <a:t>HOT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93776" y="3739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Cloud Memory API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3776" y="3922776"/>
            <a:ext cx="24688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Memory-as-a-service API: extracts and surfaces relevant memories per user. Simple REST integration. 10M+ community users.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72968" y="1005840"/>
            <a:ext cx="2651760" cy="34747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103327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AGENTIC MEMORY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64408" y="118872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</a:rPr>
              <a:t>Memory for long-running AI agents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172968" y="1399032"/>
            <a:ext cx="2651760" cy="1847088"/>
          </a:xfrm>
          <a:prstGeom prst="rect">
            <a:avLst/>
          </a:prstGeom>
          <a:solidFill>
            <a:srgbClr val="0F2040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1399032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82696" y="14904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Letta (MemGPT)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282696" y="18379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Open Source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82696" y="2020824"/>
            <a:ext cx="24688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OS-style memory paging for LLM agents. Self-editing memory blocks. Supports unbounded conversation history.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72968" y="3300984"/>
            <a:ext cx="2651760" cy="1847088"/>
          </a:xfrm>
          <a:prstGeom prst="rect">
            <a:avLst/>
          </a:prstGeom>
          <a:solidFill>
            <a:srgbClr val="0F2040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72968" y="3300984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33924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LangMem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282696" y="3739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LangChain OSS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82696" y="3922776"/>
            <a:ext cx="24688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Memory primitives for LangGraph agents — in-context, external, and semantic. For long-running multi-agent workflows.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61888" y="1005840"/>
            <a:ext cx="2798064" cy="347472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53328" y="1033272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VECTOR &amp; KNOWLEDGE STORES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053328" y="1188720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</a:rPr>
              <a:t>Databases for storing and retrieving knowledge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961888" y="1399032"/>
            <a:ext cx="2798064" cy="1298448"/>
          </a:xfrm>
          <a:prstGeom prst="rect">
            <a:avLst/>
          </a:prstGeom>
          <a:solidFill>
            <a:srgbClr val="0F2040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61888" y="1399032"/>
            <a:ext cx="279806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71616" y="1490472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Pinecone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071616" y="183794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Vector DB / SaaS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71616" y="2020824"/>
            <a:ext cx="2615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Managed vector store for RAG. Serverless, high-throughput nearest-neighbor search. Namespaces for multi-tenant isolation.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961888" y="2752344"/>
            <a:ext cx="2798064" cy="1298448"/>
          </a:xfrm>
          <a:prstGeom prst="rect">
            <a:avLst/>
          </a:prstGeom>
          <a:solidFill>
            <a:srgbClr val="0F2040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61888" y="2752344"/>
            <a:ext cx="279806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71616" y="2843784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Weaviate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071616" y="319125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Open Source / Cloud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71616" y="3374136"/>
            <a:ext cx="2615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Multi-modal vector DB with hybrid search. Strong metadata filtering. Popular self-hosted RAG backbone.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961888" y="4105656"/>
            <a:ext cx="2798064" cy="1298448"/>
          </a:xfrm>
          <a:prstGeom prst="rect">
            <a:avLst/>
          </a:prstGeom>
          <a:solidFill>
            <a:srgbClr val="0F2040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961888" y="4105656"/>
            <a:ext cx="279806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71616" y="4197096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Qdrant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071616" y="454456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Open Source / Cloud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071616" y="4727448"/>
            <a:ext cx="2615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Rust-native, lightweight. Payload filtering, sparse vectors. Strong for edge / on-prem deployments.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84048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Also in the ecosystem: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011680" y="4773168"/>
            <a:ext cx="822960" cy="219456"/>
          </a:xfrm>
          <a:prstGeom prst="rect">
            <a:avLst/>
          </a:prstGeom>
          <a:solidFill>
            <a:srgbClr val="0F204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0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ChromaDB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898648" y="4773168"/>
            <a:ext cx="822960" cy="219456"/>
          </a:xfrm>
          <a:prstGeom prst="rect">
            <a:avLst/>
          </a:prstGeom>
          <a:solidFill>
            <a:srgbClr val="0F204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98648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LlamaIndex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785616" y="4773168"/>
            <a:ext cx="822960" cy="219456"/>
          </a:xfrm>
          <a:prstGeom prst="rect">
            <a:avLst/>
          </a:prstGeom>
          <a:solidFill>
            <a:srgbClr val="0F204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85616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Cognee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672584" y="4773168"/>
            <a:ext cx="822960" cy="219456"/>
          </a:xfrm>
          <a:prstGeom prst="rect">
            <a:avLst/>
          </a:prstGeom>
          <a:solidFill>
            <a:srgbClr val="0F204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72584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Motorhead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559552" y="4773168"/>
            <a:ext cx="822960" cy="219456"/>
          </a:xfrm>
          <a:prstGeom prst="rect">
            <a:avLst/>
          </a:prstGeom>
          <a:solidFill>
            <a:srgbClr val="0F204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59552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Redis (vector)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446520" y="4773168"/>
            <a:ext cx="822960" cy="219456"/>
          </a:xfrm>
          <a:prstGeom prst="rect">
            <a:avLst/>
          </a:prstGeom>
          <a:solidFill>
            <a:srgbClr val="0F204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46520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pgvector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333488" y="4773168"/>
            <a:ext cx="822960" cy="219456"/>
          </a:xfrm>
          <a:prstGeom prst="rect">
            <a:avLst/>
          </a:prstGeom>
          <a:solidFill>
            <a:srgbClr val="0F204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33488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Chroma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220456" y="4773168"/>
            <a:ext cx="822960" cy="219456"/>
          </a:xfrm>
          <a:prstGeom prst="rect">
            <a:avLst/>
          </a:prstGeom>
          <a:solidFill>
            <a:srgbClr val="0F2040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20456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Haystack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1732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</a:rPr>
              <a:t>COMPARISON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Do the Solutions Stack Up?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1920240" cy="530352"/>
          </a:xfrm>
          <a:prstGeom prst="rect">
            <a:avLst/>
          </a:prstGeom>
          <a:solidFill>
            <a:srgbClr val="1B4F8A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058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Approach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04288" y="1005840"/>
            <a:ext cx="1371600" cy="530352"/>
          </a:xfrm>
          <a:prstGeom prst="rect">
            <a:avLst/>
          </a:prstGeom>
          <a:solidFill>
            <a:srgbClr val="1B4F8A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0008" y="10058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How Much Can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It Remember?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75888" y="1005840"/>
            <a:ext cx="1188720" cy="530352"/>
          </a:xfrm>
          <a:prstGeom prst="rect">
            <a:avLst/>
          </a:prstGeom>
          <a:solidFill>
            <a:srgbClr val="1B4F8A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100584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Does 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Persist?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64608" y="1005840"/>
            <a:ext cx="914400" cy="530352"/>
          </a:xfrm>
          <a:prstGeom prst="rect">
            <a:avLst/>
          </a:prstGeom>
          <a:solidFill>
            <a:srgbClr val="1B4F8A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00584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How Fast?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779008" y="1005840"/>
            <a:ext cx="1371600" cy="530352"/>
          </a:xfrm>
          <a:prstGeom prst="rect">
            <a:avLst/>
          </a:prstGeom>
          <a:solidFill>
            <a:srgbClr val="1B4F8A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4728" y="10058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How Accurate?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50608" y="1005840"/>
            <a:ext cx="987552" cy="530352"/>
          </a:xfrm>
          <a:prstGeom prst="rect">
            <a:avLst/>
          </a:prstGeom>
          <a:solidFill>
            <a:srgbClr val="1B4F8A"/>
          </a:solidFill>
          <a:ln w="635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96328" y="1005840"/>
            <a:ext cx="896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Hard 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Set Up?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1572768"/>
            <a:ext cx="192024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15727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Bigger Context Windows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(Flash / Sparse Attention)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04288" y="1572768"/>
            <a:ext cx="137160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9152" y="15727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Up to ~2M tokens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(≈ 1,500 pages)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75888" y="1572768"/>
            <a:ext cx="118872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15727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❌ Session only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64608" y="1572768"/>
            <a:ext cx="91440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5727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⚡ Fast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779008" y="1572768"/>
            <a:ext cx="137160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15727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⚠️ Good — misses middle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50608" y="1572768"/>
            <a:ext cx="987552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05472" y="1572768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Easy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4048" y="2148840"/>
            <a:ext cx="192024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Search &amp; Retrieve (RAG)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04288" y="2148840"/>
            <a:ext cx="137160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59152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Unlimited 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any database size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75888" y="2148840"/>
            <a:ext cx="118872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30752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✅ Stored externally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64608" y="2148840"/>
            <a:ext cx="91440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2148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⚠️ Slight delay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779008" y="2148840"/>
            <a:ext cx="137160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33872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⚠️ Depends on search quality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50608" y="2148840"/>
            <a:ext cx="987552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5472" y="21488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Medium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84048" y="2724912"/>
            <a:ext cx="192024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27249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Knowledge Graphs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(Zep / Graphiti)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304288" y="2724912"/>
            <a:ext cx="137160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59152" y="27249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Unlimited facts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&amp; relationships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75888" y="2724912"/>
            <a:ext cx="118872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30752" y="27249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✅ Fully persistent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64608" y="2724912"/>
            <a:ext cx="91440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27249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⚠️ Graph lookup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779008" y="2724912"/>
            <a:ext cx="137160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33872" y="27249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✅ High — tracks entities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150608" y="2724912"/>
            <a:ext cx="987552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05472" y="2724912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84048" y="3300984"/>
            <a:ext cx="192024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" y="33009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Memory Managers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(MemGPT, Mem0, Letta)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304288" y="3300984"/>
            <a:ext cx="137160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59152" y="330098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Unlimited 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managed storage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675888" y="3300984"/>
            <a:ext cx="118872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30752" y="330098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✅ Fully persistent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64608" y="3300984"/>
            <a:ext cx="91440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19472" y="33009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⚠️ Small overhead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779008" y="3300984"/>
            <a:ext cx="137160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33872" y="330098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✅ High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150608" y="3300984"/>
            <a:ext cx="987552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05472" y="3300984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84048" y="3877056"/>
            <a:ext cx="192024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" y="38770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New Architectures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(Mamba / RWKV)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304288" y="3877056"/>
            <a:ext cx="137160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59152" y="387705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~1M+ tokens,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much lower cost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675888" y="3877056"/>
            <a:ext cx="118872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30752" y="387705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❌ Session only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864608" y="3877056"/>
            <a:ext cx="91440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19472" y="387705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⚡ Very fast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779008" y="3877056"/>
            <a:ext cx="1371600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33872" y="387705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✅ Competitive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150608" y="3877056"/>
            <a:ext cx="987552" cy="5486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05472" y="3877056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Low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84048" y="4453128"/>
            <a:ext cx="192024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8912" y="4453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</a:rPr>
              <a:t>Extended Thinking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</a:rPr>
              <a:t>(o1, Claude extended)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304288" y="4453128"/>
            <a:ext cx="137160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359152" y="44531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Within context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window only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675888" y="4453128"/>
            <a:ext cx="118872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30752" y="44531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❌ Per session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864608" y="4453128"/>
            <a:ext cx="91440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19472" y="44531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⚠️ Slower output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779008" y="4453128"/>
            <a:ext cx="1371600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33872" y="44531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✅ Very high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7150608" y="4453128"/>
            <a:ext cx="987552" cy="5486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205472" y="4453128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Easy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82296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66928"/>
            <a:ext cx="1417320" cy="23774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</a:rPr>
              <a:t>OPEN PROBLEMS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What's Still Unsolved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Even the best memory systems today have these hard open problems — no one has fully cracked them yet.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82880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828800"/>
            <a:ext cx="475488" cy="1463040"/>
          </a:xfrm>
          <a:prstGeom prst="rect">
            <a:avLst/>
          </a:prstGeom>
          <a:solidFill>
            <a:srgbClr val="F43F5E">
              <a:alpha val="1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8836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0976" y="188366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AI Makes Up Facts (Hallucination)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0976" y="22860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Even when the AI retrieves the right document, it sometimes ignores it and generates a wrong answer. Faithfulness is unsolved at scale.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50976" y="2871216"/>
            <a:ext cx="208483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89864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F43F5E"/>
                </a:solidFill>
              </a:rPr>
              <a:t>💡 Like a student who read the textbook but still writes the wrong answer because they were guessing.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310128" y="182880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0128" y="1828800"/>
            <a:ext cx="475488" cy="146304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8836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77056" y="188366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Forgets the Middle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77056" y="22860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Models reliably recall the start and end of long documents, but miss information buried in the middle — even when that's the most important part.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77056" y="2871216"/>
            <a:ext cx="208483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77056" y="289864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F59E0B"/>
                </a:solidFill>
              </a:rPr>
              <a:t>💡 Like a speaker who nails their intro and conclusion but blanks on the key examples.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236208" y="182880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36208" y="1828800"/>
            <a:ext cx="475488" cy="1463040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8836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03136" y="188366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No Good Tests Yet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03136" y="22860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We don't have reliable benchmarks to measure how well AI handles real-world long-context tasks across multi-session, multi-modal, time-sensitive scenarios.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03136" y="2871216"/>
            <a:ext cx="208483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289864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38BDF8"/>
                </a:solidFill>
              </a:rPr>
              <a:t>💡 We don't have a good exam to grade whether AI memory actually works in practice.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384048" y="342900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3429000"/>
            <a:ext cx="475488" cy="14630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3483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0976" y="348386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Conflicting Memories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50976" y="38862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When the AI's training knowledge says one thing and retrieved documents say another — which wins? There's no principled way to resolve these conflicts yet.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50976" y="4471416"/>
            <a:ext cx="208483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449884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10B981"/>
                </a:solidFill>
              </a:rPr>
              <a:t>💡 Like a doctor who remembers one thing from med school but the patient's chart says something different.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3310128" y="342900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10128" y="3429000"/>
            <a:ext cx="475488" cy="146304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3483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05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877056" y="348386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Images &amp; Video Are Huge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877056" y="38862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Text memory is hard enough — but images, audio, and video take up massive amounts of context. Multi-modal memory is mostly unsolved.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77056" y="4471416"/>
            <a:ext cx="208483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449884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06B6D4"/>
                </a:solidFill>
              </a:rPr>
              <a:t>💡 Remembering what someone said is much easier than remembering exactly what they looked like saying it.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6236208" y="342900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36208" y="3429000"/>
            <a:ext cx="475488" cy="146304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3483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06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803136" y="348386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The Right to Be Forgotten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803136" y="38862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AI systems that remember everything raise serious privacy concerns. Selectively deleting a specific memory without retraining the model is technically very hard.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803136" y="4471416"/>
            <a:ext cx="208483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03136" y="449884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8B5CF6"/>
                </a:solidFill>
              </a:rPr>
              <a:t>💡 If you ask an AI to forget you, it currently can't — at least not cleanly.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38BDF8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to Remember From This Deck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" y="1243584"/>
            <a:ext cx="384048" cy="384048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07008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AI memory comes in 4 types — working, episodic, semantic, and external — and different applications depend on different combinations.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938528"/>
            <a:ext cx="384048" cy="38404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901952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 single solution wins. Real production systems layer multiple approaches: bigger context windows + retrieval + persistent memory stores.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2633472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596896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applications that benefit most — medical, legal, coding, education — are exactly those where forgetting is dangerous or expensive.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3328416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291840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Companies like Zep, Mem0, and Letta are building the memory middleware layer — a critical missing piece in today's AI stack.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4023360"/>
            <a:ext cx="384048" cy="384048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986784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hardest open problems are not purely technical — they're about faithfulness, conflict resolution, and the human right to be forgotten.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BuildGeek AI  ·  @parag  ·  buildgeek.ai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Memory &amp; Long-Context Reasoning</dc:title>
  <dc:subject>PptxGenJS Presentation</dc:subject>
  <dc:creator>PptxGenJS</dc:creator>
  <cp:lastModifiedBy>PptxGenJS</cp:lastModifiedBy>
  <cp:revision>1</cp:revision>
  <dcterms:created xsi:type="dcterms:W3CDTF">2026-03-28T23:39:29Z</dcterms:created>
  <dcterms:modified xsi:type="dcterms:W3CDTF">2026-03-28T23:39:29Z</dcterms:modified>
</cp:coreProperties>
</file>